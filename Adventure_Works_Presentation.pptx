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1119" r:id="rId2"/>
    <p:sldId id="1496" r:id="rId3"/>
    <p:sldId id="1500" r:id="rId4"/>
    <p:sldId id="1501" r:id="rId5"/>
    <p:sldId id="1502" r:id="rId6"/>
    <p:sldId id="1503" r:id="rId7"/>
    <p:sldId id="1505" r:id="rId8"/>
    <p:sldId id="1507" r:id="rId9"/>
    <p:sldId id="1508" r:id="rId10"/>
    <p:sldId id="1504" r:id="rId11"/>
    <p:sldId id="1509" r:id="rId12"/>
    <p:sldId id="30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B22F"/>
    <a:srgbClr val="AEFCFC"/>
    <a:srgbClr val="E0C1FF"/>
    <a:srgbClr val="CC99FF"/>
    <a:srgbClr val="00589A"/>
    <a:srgbClr val="DECEFE"/>
    <a:srgbClr val="D0B9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varScale="1">
        <p:scale>
          <a:sx n="57" d="100"/>
          <a:sy n="57" d="100"/>
        </p:scale>
        <p:origin x="1016"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ra Mouli Kotta kota" userId="5fe5cc5c0dc36bb4" providerId="LiveId" clId="{14693061-018D-4BFC-863A-740DC1BB17C0}"/>
    <pc:docChg chg="delSld">
      <pc:chgData name="Chandra Mouli Kotta kota" userId="5fe5cc5c0dc36bb4" providerId="LiveId" clId="{14693061-018D-4BFC-863A-740DC1BB17C0}" dt="2026-01-05T08:01:23.060" v="0" actId="47"/>
      <pc:docMkLst>
        <pc:docMk/>
      </pc:docMkLst>
      <pc:sldChg chg="del">
        <pc:chgData name="Chandra Mouli Kotta kota" userId="5fe5cc5c0dc36bb4" providerId="LiveId" clId="{14693061-018D-4BFC-863A-740DC1BB17C0}" dt="2026-01-05T08:01:23.060" v="0" actId="47"/>
        <pc:sldMkLst>
          <pc:docMk/>
          <pc:sldMk cId="2694837450" sldId="699"/>
        </pc:sldMkLst>
      </pc:sldChg>
      <pc:sldMasterChg chg="delSldLayout">
        <pc:chgData name="Chandra Mouli Kotta kota" userId="5fe5cc5c0dc36bb4" providerId="LiveId" clId="{14693061-018D-4BFC-863A-740DC1BB17C0}" dt="2026-01-05T08:01:23.060" v="0" actId="47"/>
        <pc:sldMasterMkLst>
          <pc:docMk/>
          <pc:sldMasterMk cId="109456712" sldId="2147483660"/>
        </pc:sldMasterMkLst>
        <pc:sldLayoutChg chg="del">
          <pc:chgData name="Chandra Mouli Kotta kota" userId="5fe5cc5c0dc36bb4" providerId="LiveId" clId="{14693061-018D-4BFC-863A-740DC1BB17C0}" dt="2026-01-05T08:01:23.060" v="0" actId="47"/>
          <pc:sldLayoutMkLst>
            <pc:docMk/>
            <pc:sldMasterMk cId="109456712" sldId="2147483660"/>
            <pc:sldLayoutMk cId="3620839494" sldId="214748367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813B3-6425-4A6D-806E-021B84DD5758}" type="datetimeFigureOut">
              <a:rPr lang="en-IN" smtClean="0"/>
              <a:t>14-06-2026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93CE8-3B10-43B2-8860-AFD8154600F8}" type="slidenum">
              <a:rPr lang="en-IN" smtClean="0"/>
              <a:t>‹#›</a:t>
            </a:fld>
            <a:endParaRPr lang="en-IN"/>
          </a:p>
        </p:txBody>
      </p:sp>
    </p:spTree>
    <p:extLst>
      <p:ext uri="{BB962C8B-B14F-4D97-AF65-F5344CB8AC3E}">
        <p14:creationId xmlns:p14="http://schemas.microsoft.com/office/powerpoint/2010/main" val="730557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0843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6" name="Google Shape;120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5428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caletrix Title Page">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xmlns="" id="{2F306997-3B2B-2B65-053F-A3D89D2F2DA0}"/>
              </a:ext>
            </a:extLst>
          </p:cNvPr>
          <p:cNvSpPr/>
          <p:nvPr userDrawn="1"/>
        </p:nvSpPr>
        <p:spPr>
          <a:xfrm>
            <a:off x="-67" y="0"/>
            <a:ext cx="12192000" cy="6327976"/>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pic>
        <p:nvPicPr>
          <p:cNvPr id="3" name="Picture 2">
            <a:extLst>
              <a:ext uri="{FF2B5EF4-FFF2-40B4-BE49-F238E27FC236}">
                <a16:creationId xmlns:a16="http://schemas.microsoft.com/office/drawing/2014/main" xmlns="" id="{03AD558F-750C-7F7A-EF36-7477B28E6647}"/>
              </a:ext>
            </a:extLst>
          </p:cNvPr>
          <p:cNvPicPr>
            <a:picLocks noChangeAspect="1"/>
          </p:cNvPicPr>
          <p:nvPr userDrawn="1"/>
        </p:nvPicPr>
        <p:blipFill rotWithShape="1">
          <a:blip r:embed="rId2"/>
          <a:srcRect r="5636" b="4250"/>
          <a:stretch/>
        </p:blipFill>
        <p:spPr>
          <a:xfrm flipH="1">
            <a:off x="937527" y="1260005"/>
            <a:ext cx="5091797" cy="4486363"/>
          </a:xfrm>
          <a:prstGeom prst="rect">
            <a:avLst/>
          </a:prstGeom>
        </p:spPr>
      </p:pic>
      <p:sp>
        <p:nvSpPr>
          <p:cNvPr id="10" name="Rectangle 9">
            <a:extLst>
              <a:ext uri="{FF2B5EF4-FFF2-40B4-BE49-F238E27FC236}">
                <a16:creationId xmlns:a16="http://schemas.microsoft.com/office/drawing/2014/main" xmlns="" id="{41D13BBF-8BF9-58E8-2D48-8C25E8436E1D}"/>
              </a:ext>
            </a:extLst>
          </p:cNvPr>
          <p:cNvSpPr/>
          <p:nvPr userDrawn="1"/>
        </p:nvSpPr>
        <p:spPr>
          <a:xfrm>
            <a:off x="0" y="0"/>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12" name="Google Shape;37;p60">
            <a:extLst>
              <a:ext uri="{FF2B5EF4-FFF2-40B4-BE49-F238E27FC236}">
                <a16:creationId xmlns:a16="http://schemas.microsoft.com/office/drawing/2014/main" xmlns="" id="{E6481E89-02DE-7518-CF7A-DC982067B7A2}"/>
              </a:ext>
            </a:extLst>
          </p:cNvPr>
          <p:cNvSpPr txBox="1">
            <a:spLocks noGrp="1"/>
          </p:cNvSpPr>
          <p:nvPr>
            <p:ph type="subTitle" idx="1"/>
          </p:nvPr>
        </p:nvSpPr>
        <p:spPr>
          <a:xfrm>
            <a:off x="6279060" y="2107188"/>
            <a:ext cx="545574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1836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1"/>
        <p:cNvGrpSpPr/>
        <p:nvPr/>
      </p:nvGrpSpPr>
      <p:grpSpPr>
        <a:xfrm>
          <a:off x="0" y="0"/>
          <a:ext cx="0" cy="0"/>
          <a:chOff x="0" y="0"/>
          <a:chExt cx="0" cy="0"/>
        </a:xfrm>
      </p:grpSpPr>
      <p:sp>
        <p:nvSpPr>
          <p:cNvPr id="23" name="Google Shape;23;p3"/>
          <p:cNvSpPr txBox="1">
            <a:spLocks noGrp="1"/>
          </p:cNvSpPr>
          <p:nvPr>
            <p:ph type="title"/>
          </p:nvPr>
        </p:nvSpPr>
        <p:spPr>
          <a:xfrm>
            <a:off x="415600" y="4289085"/>
            <a:ext cx="11428400" cy="1256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atin typeface="Raleway" pitchFamily="2" charset="0"/>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dirty="0"/>
          </a:p>
        </p:txBody>
      </p:sp>
      <p:sp>
        <p:nvSpPr>
          <p:cNvPr id="2" name="Google Shape;8;p1">
            <a:extLst>
              <a:ext uri="{FF2B5EF4-FFF2-40B4-BE49-F238E27FC236}">
                <a16:creationId xmlns:a16="http://schemas.microsoft.com/office/drawing/2014/main" xmlns="" id="{9DF37ADA-1D1E-F64E-723D-3F6E9A12009A}"/>
              </a:ext>
            </a:extLst>
          </p:cNvPr>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rm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3313620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1"/>
        <p:cNvGrpSpPr/>
        <p:nvPr/>
      </p:nvGrpSpPr>
      <p:grpSpPr>
        <a:xfrm>
          <a:off x="0" y="0"/>
          <a:ext cx="0" cy="0"/>
          <a:chOff x="0" y="0"/>
          <a:chExt cx="0" cy="0"/>
        </a:xfrm>
      </p:grpSpPr>
      <p:sp>
        <p:nvSpPr>
          <p:cNvPr id="62" name="Google Shape;62;p10"/>
          <p:cNvSpPr txBox="1">
            <a:spLocks noGrp="1"/>
          </p:cNvSpPr>
          <p:nvPr>
            <p:ph type="body" idx="1"/>
          </p:nvPr>
        </p:nvSpPr>
        <p:spPr>
          <a:xfrm>
            <a:off x="1081404" y="5270123"/>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Raleway" pitchFamily="2" charset="0"/>
                <a:ea typeface="Raleway" pitchFamily="2" charset="0"/>
                <a:cs typeface="Raleway" pitchFamily="2" charset="0"/>
                <a:sym typeface="PT Sans Narrow"/>
              </a:defRPr>
            </a:lvl1pPr>
          </a:lstStyle>
          <a:p>
            <a:endParaRPr dirty="0"/>
          </a:p>
        </p:txBody>
      </p:sp>
      <p:sp>
        <p:nvSpPr>
          <p:cNvPr id="6" name="Slide Number Placeholder 5">
            <a:extLst>
              <a:ext uri="{FF2B5EF4-FFF2-40B4-BE49-F238E27FC236}">
                <a16:creationId xmlns:a16="http://schemas.microsoft.com/office/drawing/2014/main" xmlns="" id="{2D49176E-C771-72C8-F8E5-906AAEAB5941}"/>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9918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userDrawn="1">
  <p:cSld name="One column text">
    <p:spTree>
      <p:nvGrpSpPr>
        <p:cNvPr id="1" name="Shape 44"/>
        <p:cNvGrpSpPr/>
        <p:nvPr/>
      </p:nvGrpSpPr>
      <p:grpSpPr>
        <a:xfrm>
          <a:off x="0" y="0"/>
          <a:ext cx="0" cy="0"/>
          <a:chOff x="0" y="0"/>
          <a:chExt cx="0" cy="0"/>
        </a:xfrm>
      </p:grpSpPr>
      <p:sp>
        <p:nvSpPr>
          <p:cNvPr id="46" name="Google Shape;46;p7"/>
          <p:cNvSpPr txBox="1">
            <a:spLocks noGrp="1"/>
          </p:cNvSpPr>
          <p:nvPr>
            <p:ph type="body" idx="1"/>
          </p:nvPr>
        </p:nvSpPr>
        <p:spPr>
          <a:xfrm>
            <a:off x="415600" y="1672836"/>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333">
                <a:latin typeface="Calibri" panose="020F0502020204030204" pitchFamily="34" charset="0"/>
                <a:cs typeface="Calibri" panose="020F0502020204030204" pitchFamily="34" charset="0"/>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dirty="0"/>
          </a:p>
        </p:txBody>
      </p:sp>
      <p:sp>
        <p:nvSpPr>
          <p:cNvPr id="5" name="Google Shape;45;p7">
            <a:extLst>
              <a:ext uri="{FF2B5EF4-FFF2-40B4-BE49-F238E27FC236}">
                <a16:creationId xmlns:a16="http://schemas.microsoft.com/office/drawing/2014/main" xmlns="" id="{482C3779-B2BB-CEE4-3E2C-334B9C6C7D8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7" name="Slide Number Placeholder 5">
            <a:extLst>
              <a:ext uri="{FF2B5EF4-FFF2-40B4-BE49-F238E27FC236}">
                <a16:creationId xmlns:a16="http://schemas.microsoft.com/office/drawing/2014/main" xmlns="" id="{E53AC460-69CA-8F48-E3C8-414742235405}"/>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228013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xmlns="" id="{7B9630DA-C8F6-4DCB-07B4-8474A714CA0E}"/>
              </a:ext>
            </a:extLst>
          </p:cNvPr>
          <p:cNvSpPr>
            <a:spLocks noGrp="1"/>
          </p:cNvSpPr>
          <p:nvPr>
            <p:ph type="pic" idx="1"/>
          </p:nvPr>
        </p:nvSpPr>
        <p:spPr>
          <a:xfrm>
            <a:off x="5183188" y="2049463"/>
            <a:ext cx="6172200" cy="3811588"/>
          </a:xfrm>
          <a:prstGeom prst="rect">
            <a:avLst/>
          </a:prstGeom>
        </p:spPr>
        <p:txBody>
          <a:bodyPr>
            <a:normAutofit/>
          </a:bodyPr>
          <a:lstStyle>
            <a:lvl1pPr marL="0" indent="0">
              <a:buNone/>
              <a:defRPr sz="1333">
                <a:latin typeface="Calibri" panose="020F0502020204030204" pitchFamily="34" charset="0"/>
                <a:cs typeface="Calibri" panose="020F0502020204030204"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a:extLst>
              <a:ext uri="{FF2B5EF4-FFF2-40B4-BE49-F238E27FC236}">
                <a16:creationId xmlns:a16="http://schemas.microsoft.com/office/drawing/2014/main" xmlns="" id="{2D23ABE9-772D-629A-0846-B8D8655E488F}"/>
              </a:ext>
            </a:extLst>
          </p:cNvPr>
          <p:cNvSpPr>
            <a:spLocks noGrp="1"/>
          </p:cNvSpPr>
          <p:nvPr>
            <p:ph type="body" sz="half" idx="2"/>
          </p:nvPr>
        </p:nvSpPr>
        <p:spPr>
          <a:xfrm>
            <a:off x="839788" y="2057401"/>
            <a:ext cx="3932237" cy="3811588"/>
          </a:xfrm>
          <a:prstGeom prst="rect">
            <a:avLst/>
          </a:prstGeom>
        </p:spPr>
        <p:txBody>
          <a:bodyPr/>
          <a:lstStyle>
            <a:lvl1pPr marL="0" indent="0">
              <a:buNone/>
              <a:defRPr sz="1333">
                <a:latin typeface="Calibri" panose="020F0502020204030204" pitchFamily="34" charset="0"/>
                <a:cs typeface="Calibri" panose="020F050202020403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11" name="Google Shape;45;p7">
            <a:extLst>
              <a:ext uri="{FF2B5EF4-FFF2-40B4-BE49-F238E27FC236}">
                <a16:creationId xmlns:a16="http://schemas.microsoft.com/office/drawing/2014/main" xmlns="" id="{2DDA5E8B-7438-C891-2771-F57700CCD3F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3" name="Slide Number Placeholder 5">
            <a:extLst>
              <a:ext uri="{FF2B5EF4-FFF2-40B4-BE49-F238E27FC236}">
                <a16:creationId xmlns:a16="http://schemas.microsoft.com/office/drawing/2014/main" xmlns="" id="{BE10E01B-527E-6CF6-D575-6D430AD2824D}"/>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061382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91"/>
        <p:cNvGrpSpPr/>
        <p:nvPr/>
      </p:nvGrpSpPr>
      <p:grpSpPr>
        <a:xfrm>
          <a:off x="0" y="0"/>
          <a:ext cx="0" cy="0"/>
          <a:chOff x="0" y="0"/>
          <a:chExt cx="0" cy="0"/>
        </a:xfrm>
      </p:grpSpPr>
      <p:sp>
        <p:nvSpPr>
          <p:cNvPr id="93" name="Google Shape;93;p15"/>
          <p:cNvSpPr txBox="1">
            <a:spLocks noGrp="1"/>
          </p:cNvSpPr>
          <p:nvPr>
            <p:ph type="body" idx="1"/>
          </p:nvPr>
        </p:nvSpPr>
        <p:spPr>
          <a:xfrm>
            <a:off x="838200" y="2023409"/>
            <a:ext cx="10515600" cy="3955636"/>
          </a:xfrm>
          <a:prstGeom prst="rect">
            <a:avLst/>
          </a:prstGeom>
          <a:noFill/>
          <a:ln>
            <a:noFill/>
          </a:ln>
        </p:spPr>
        <p:txBody>
          <a:bodyPr spcFirstLastPara="1" wrap="square" lIns="68575" tIns="34275" rIns="68575" bIns="34275" anchor="t" anchorCtr="0">
            <a:normAutofit/>
          </a:bodyPr>
          <a:lstStyle>
            <a:lvl1pPr marL="609585" lvl="0" indent="-423323" algn="l" rtl="0">
              <a:lnSpc>
                <a:spcPct val="90000"/>
              </a:lnSpc>
              <a:spcBef>
                <a:spcPts val="1067"/>
              </a:spcBef>
              <a:spcAft>
                <a:spcPts val="0"/>
              </a:spcAft>
              <a:buClr>
                <a:schemeClr val="dk1"/>
              </a:buClr>
              <a:buSzPts val="1400"/>
              <a:buChar char="•"/>
              <a:defRPr>
                <a:latin typeface="Calibri" panose="020F0502020204030204" pitchFamily="34" charset="0"/>
                <a:cs typeface="Calibri" panose="020F0502020204030204" pitchFamily="34" charset="0"/>
              </a:defRPr>
            </a:lvl1pPr>
            <a:lvl2pPr marL="1219170" lvl="1" indent="-423323" algn="l" rtl="0">
              <a:lnSpc>
                <a:spcPct val="90000"/>
              </a:lnSpc>
              <a:spcBef>
                <a:spcPts val="533"/>
              </a:spcBef>
              <a:spcAft>
                <a:spcPts val="0"/>
              </a:spcAft>
              <a:buClr>
                <a:schemeClr val="dk1"/>
              </a:buClr>
              <a:buSzPts val="1400"/>
              <a:buChar char="•"/>
              <a:defRPr/>
            </a:lvl2pPr>
            <a:lvl3pPr marL="1828754" lvl="2" indent="-423323" algn="l" rtl="0">
              <a:lnSpc>
                <a:spcPct val="90000"/>
              </a:lnSpc>
              <a:spcBef>
                <a:spcPts val="533"/>
              </a:spcBef>
              <a:spcAft>
                <a:spcPts val="0"/>
              </a:spcAft>
              <a:buClr>
                <a:schemeClr val="dk1"/>
              </a:buClr>
              <a:buSzPts val="1400"/>
              <a:buChar char="•"/>
              <a:defRPr/>
            </a:lvl3pPr>
            <a:lvl4pPr marL="2438339" lvl="3" indent="-423323" algn="l" rtl="0">
              <a:lnSpc>
                <a:spcPct val="90000"/>
              </a:lnSpc>
              <a:spcBef>
                <a:spcPts val="533"/>
              </a:spcBef>
              <a:spcAft>
                <a:spcPts val="0"/>
              </a:spcAft>
              <a:buClr>
                <a:schemeClr val="dk1"/>
              </a:buClr>
              <a:buSzPts val="1400"/>
              <a:buChar char="•"/>
              <a:defRPr/>
            </a:lvl4pPr>
            <a:lvl5pPr marL="3047924" lvl="4" indent="-423323" algn="l" rtl="0">
              <a:lnSpc>
                <a:spcPct val="90000"/>
              </a:lnSpc>
              <a:spcBef>
                <a:spcPts val="533"/>
              </a:spcBef>
              <a:spcAft>
                <a:spcPts val="0"/>
              </a:spcAft>
              <a:buClr>
                <a:schemeClr val="dk1"/>
              </a:buClr>
              <a:buSzPts val="1400"/>
              <a:buChar char="•"/>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0"/>
              </a:spcAft>
              <a:buClr>
                <a:schemeClr val="dk1"/>
              </a:buClr>
              <a:buSzPts val="1400"/>
              <a:buChar char="•"/>
              <a:defRPr/>
            </a:lvl9pPr>
          </a:lstStyle>
          <a:p>
            <a:endParaRPr dirty="0"/>
          </a:p>
        </p:txBody>
      </p:sp>
      <p:sp>
        <p:nvSpPr>
          <p:cNvPr id="4" name="Google Shape;45;p7">
            <a:extLst>
              <a:ext uri="{FF2B5EF4-FFF2-40B4-BE49-F238E27FC236}">
                <a16:creationId xmlns:a16="http://schemas.microsoft.com/office/drawing/2014/main" xmlns="" id="{EB44CB0A-F4B1-A402-3759-2C3528AB8E4F}"/>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xmlns="" id="{876617F3-2402-6614-1A74-28C7B4C54B2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932584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C6E896A-68C9-7523-8C07-666BD0EFBA84}"/>
              </a:ext>
            </a:extLst>
          </p:cNvPr>
          <p:cNvSpPr>
            <a:spLocks noGrp="1"/>
          </p:cNvSpPr>
          <p:nvPr>
            <p:ph idx="1"/>
          </p:nvPr>
        </p:nvSpPr>
        <p:spPr>
          <a:xfrm>
            <a:off x="415600" y="2602499"/>
            <a:ext cx="11360800" cy="3153216"/>
          </a:xfrm>
          <a:prstGeom prst="rect">
            <a:avLst/>
          </a:prstGeom>
        </p:spPr>
        <p:txBody>
          <a:bodyPr/>
          <a:lstStyle>
            <a:lvl1pPr>
              <a:defRPr>
                <a:latin typeface="Calibri" panose="020F0502020204030204" pitchFamily="34" charset="0"/>
                <a:cs typeface="Calibri" panose="020F0502020204030204" pitchFamily="34" charset="0"/>
              </a:defRPr>
            </a:lvl1pPr>
            <a:lvl2pPr>
              <a:defRPr>
                <a:latin typeface="Raleway" pitchFamily="2" charset="0"/>
              </a:defRPr>
            </a:lvl2pPr>
            <a:lvl3pPr>
              <a:defRPr>
                <a:latin typeface="Raleway" pitchFamily="2" charset="0"/>
              </a:defRPr>
            </a:lvl3pPr>
            <a:lvl4pPr>
              <a:defRPr>
                <a:latin typeface="Raleway" pitchFamily="2" charset="0"/>
              </a:defRPr>
            </a:lvl4pPr>
            <a:lvl5pPr>
              <a:defRPr>
                <a:latin typeface="Raleway"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45;p7">
            <a:extLst>
              <a:ext uri="{FF2B5EF4-FFF2-40B4-BE49-F238E27FC236}">
                <a16:creationId xmlns:a16="http://schemas.microsoft.com/office/drawing/2014/main" xmlns="" id="{2B1567C0-4287-5016-773D-60FC6944785E}"/>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2" name="Slide Number Placeholder 5">
            <a:extLst>
              <a:ext uri="{FF2B5EF4-FFF2-40B4-BE49-F238E27FC236}">
                <a16:creationId xmlns:a16="http://schemas.microsoft.com/office/drawing/2014/main" xmlns="" id="{54CBDA10-C463-8A5E-0969-8CFE1D30C617}"/>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16484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userDrawn="1">
  <p:cSld name="Title and two columns 1">
    <p:spTree>
      <p:nvGrpSpPr>
        <p:cNvPr id="1" name="Shape 76"/>
        <p:cNvGrpSpPr/>
        <p:nvPr/>
      </p:nvGrpSpPr>
      <p:grpSpPr>
        <a:xfrm>
          <a:off x="0" y="0"/>
          <a:ext cx="0" cy="0"/>
          <a:chOff x="0" y="0"/>
          <a:chExt cx="0" cy="0"/>
        </a:xfrm>
      </p:grpSpPr>
      <p:sp>
        <p:nvSpPr>
          <p:cNvPr id="77" name="Google Shape;77;p13"/>
          <p:cNvSpPr txBox="1">
            <a:spLocks noGrp="1"/>
          </p:cNvSpPr>
          <p:nvPr>
            <p:ph type="subTitle" idx="1"/>
          </p:nvPr>
        </p:nvSpPr>
        <p:spPr>
          <a:xfrm>
            <a:off x="18027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78" name="Google Shape;78;p13"/>
          <p:cNvSpPr txBox="1">
            <a:spLocks noGrp="1"/>
          </p:cNvSpPr>
          <p:nvPr>
            <p:ph type="subTitle" idx="2"/>
          </p:nvPr>
        </p:nvSpPr>
        <p:spPr>
          <a:xfrm>
            <a:off x="18027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dirty="0"/>
          </a:p>
        </p:txBody>
      </p:sp>
      <p:sp>
        <p:nvSpPr>
          <p:cNvPr id="79" name="Google Shape;79;p13"/>
          <p:cNvSpPr txBox="1">
            <a:spLocks noGrp="1"/>
          </p:cNvSpPr>
          <p:nvPr>
            <p:ph type="subTitle" idx="3"/>
          </p:nvPr>
        </p:nvSpPr>
        <p:spPr>
          <a:xfrm>
            <a:off x="67430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80" name="Google Shape;80;p13"/>
          <p:cNvSpPr txBox="1">
            <a:spLocks noGrp="1"/>
          </p:cNvSpPr>
          <p:nvPr>
            <p:ph type="subTitle" idx="4"/>
          </p:nvPr>
        </p:nvSpPr>
        <p:spPr>
          <a:xfrm>
            <a:off x="67430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a:p>
        </p:txBody>
      </p:sp>
      <p:sp>
        <p:nvSpPr>
          <p:cNvPr id="3" name="Google Shape;45;p7">
            <a:extLst>
              <a:ext uri="{FF2B5EF4-FFF2-40B4-BE49-F238E27FC236}">
                <a16:creationId xmlns:a16="http://schemas.microsoft.com/office/drawing/2014/main" xmlns="" id="{D0B48D13-027A-4AFE-4CD9-AAE135E2BABD}"/>
              </a:ext>
            </a:extLst>
          </p:cNvPr>
          <p:cNvSpPr txBox="1">
            <a:spLocks noGrp="1"/>
          </p:cNvSpPr>
          <p:nvPr>
            <p:ph type="title"/>
          </p:nvPr>
        </p:nvSpPr>
        <p:spPr>
          <a:xfrm>
            <a:off x="403199" y="115200"/>
            <a:ext cx="10550999"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xmlns="" id="{9432BB4C-0FFD-F107-637F-62075DD566B0}"/>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265085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2236481"/>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latin typeface="Calibri" panose="020F0502020204030204" pitchFamily="34" charset="0"/>
                <a:cs typeface="Calibri" panose="020F0502020204030204" pitchFamily="34" charset="0"/>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rPr dirty="0"/>
              <a:t>xx%</a:t>
            </a:r>
          </a:p>
        </p:txBody>
      </p:sp>
      <p:sp>
        <p:nvSpPr>
          <p:cNvPr id="68" name="Google Shape;68;p11"/>
          <p:cNvSpPr txBox="1">
            <a:spLocks noGrp="1"/>
          </p:cNvSpPr>
          <p:nvPr>
            <p:ph type="body" idx="1"/>
          </p:nvPr>
        </p:nvSpPr>
        <p:spPr>
          <a:xfrm>
            <a:off x="415600" y="4490881"/>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atin typeface="Calibri" panose="020F0502020204030204" pitchFamily="34" charset="0"/>
                <a:cs typeface="Calibri" panose="020F0502020204030204" pitchFamily="34" charset="0"/>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dirty="0"/>
          </a:p>
        </p:txBody>
      </p:sp>
      <p:sp>
        <p:nvSpPr>
          <p:cNvPr id="8" name="Slide Number Placeholder 5">
            <a:extLst>
              <a:ext uri="{FF2B5EF4-FFF2-40B4-BE49-F238E27FC236}">
                <a16:creationId xmlns:a16="http://schemas.microsoft.com/office/drawing/2014/main" xmlns="" id="{FEF22A34-8630-7179-6BE7-3A5ED218F44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3608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Google Shape;45;p7">
            <a:extLst>
              <a:ext uri="{FF2B5EF4-FFF2-40B4-BE49-F238E27FC236}">
                <a16:creationId xmlns:a16="http://schemas.microsoft.com/office/drawing/2014/main" xmlns="" id="{564256A3-4B60-B37C-3C15-AB3FE9B6DA43}"/>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1" name="Slide Number Placeholder 5">
            <a:extLst>
              <a:ext uri="{FF2B5EF4-FFF2-40B4-BE49-F238E27FC236}">
                <a16:creationId xmlns:a16="http://schemas.microsoft.com/office/drawing/2014/main" xmlns="" id="{4B24C27D-E9CF-52B2-895E-3ABEC7ADC878}"/>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560623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xmlns="" id="{983060A7-945A-2E96-761C-7E7F8D3C45F9}"/>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71137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
        <p:cNvGrpSpPr/>
        <p:nvPr/>
      </p:nvGrpSpPr>
      <p:grpSpPr>
        <a:xfrm>
          <a:off x="0" y="0"/>
          <a:ext cx="0" cy="0"/>
          <a:chOff x="0" y="0"/>
          <a:chExt cx="0" cy="0"/>
        </a:xfrm>
      </p:grpSpPr>
      <p:sp>
        <p:nvSpPr>
          <p:cNvPr id="37" name="Google Shape;37;p60"/>
          <p:cNvSpPr txBox="1">
            <a:spLocks noGrp="1"/>
          </p:cNvSpPr>
          <p:nvPr>
            <p:ph type="subTitle" idx="1"/>
          </p:nvPr>
        </p:nvSpPr>
        <p:spPr>
          <a:xfrm>
            <a:off x="2840535" y="4195828"/>
            <a:ext cx="649400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
        <p:nvSpPr>
          <p:cNvPr id="38" name="Google Shape;38;p60"/>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1pPr>
            <a:lvl2pPr marL="0" lvl="1"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2pPr>
            <a:lvl3pPr marL="0" lvl="2"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3pPr>
            <a:lvl4pPr marL="0" lvl="3"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4pPr>
            <a:lvl5pPr marL="0" lvl="4"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5pPr>
            <a:lvl6pPr marL="0" lvl="5"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6pPr>
            <a:lvl7pPr marL="0" lvl="6"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7pPr>
            <a:lvl8pPr marL="0" lvl="7"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8pPr>
            <a:lvl9pPr marL="0" lvl="8"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83044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03200" y="115200"/>
            <a:ext cx="11360800" cy="94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dirty="0"/>
          </a:p>
        </p:txBody>
      </p:sp>
      <p:sp>
        <p:nvSpPr>
          <p:cNvPr id="27" name="Rectangle 26">
            <a:extLst>
              <a:ext uri="{FF2B5EF4-FFF2-40B4-BE49-F238E27FC236}">
                <a16:creationId xmlns:a16="http://schemas.microsoft.com/office/drawing/2014/main" xmlns="" id="{D2573FB6-F6A4-C682-F4CD-14CE8176A144}"/>
              </a:ext>
            </a:extLst>
          </p:cNvPr>
          <p:cNvSpPr/>
          <p:nvPr userDrawn="1"/>
        </p:nvSpPr>
        <p:spPr>
          <a:xfrm>
            <a:off x="0" y="6331389"/>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8" name="Google Shape;8;p1"/>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945671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66CF642-B155-3EAA-0E23-97793C0E3936}"/>
              </a:ext>
            </a:extLst>
          </p:cNvPr>
          <p:cNvSpPr txBox="1"/>
          <p:nvPr/>
        </p:nvSpPr>
        <p:spPr>
          <a:xfrm>
            <a:off x="6300218" y="1347837"/>
            <a:ext cx="4741333" cy="4442883"/>
          </a:xfrm>
          <a:prstGeom prst="rect">
            <a:avLst/>
          </a:prstGeom>
          <a:noFill/>
        </p:spPr>
        <p:txBody>
          <a:bodyPr wrap="square" rtlCol="0">
            <a:spAutoFit/>
          </a:bodyPr>
          <a:lstStyle/>
          <a:p>
            <a:pPr algn="ctr" defTabSz="1219170">
              <a:buClr>
                <a:srgbClr val="000000"/>
              </a:buClr>
            </a:pPr>
            <a:r>
              <a:rPr lang="en-US" sz="2800" b="1" dirty="0" smtClean="0"/>
              <a:t>Adventure Works </a:t>
            </a:r>
            <a:r>
              <a:rPr lang="en-US" sz="2800" b="1" dirty="0"/>
              <a:t>Sales Dashboard</a:t>
            </a: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r>
              <a:rPr lang="en-IN" sz="2667" b="1" kern="0" dirty="0" err="1" smtClean="0">
                <a:solidFill>
                  <a:prstClr val="black">
                    <a:lumMod val="85000"/>
                    <a:lumOff val="15000"/>
                  </a:prstClr>
                </a:solidFill>
                <a:latin typeface="Arial"/>
                <a:cs typeface="Arial"/>
                <a:sym typeface="Arial"/>
              </a:rPr>
              <a:t>Shailesh</a:t>
            </a:r>
            <a:r>
              <a:rPr lang="en-IN" sz="2667" b="1" kern="0" dirty="0" smtClean="0">
                <a:solidFill>
                  <a:prstClr val="black">
                    <a:lumMod val="85000"/>
                    <a:lumOff val="15000"/>
                  </a:prstClr>
                </a:solidFill>
                <a:latin typeface="Arial"/>
                <a:cs typeface="Arial"/>
                <a:sym typeface="Arial"/>
              </a:rPr>
              <a:t> Kumar </a:t>
            </a:r>
            <a:r>
              <a:rPr lang="en-IN" sz="2667" b="1" kern="0" dirty="0" err="1" smtClean="0">
                <a:solidFill>
                  <a:prstClr val="black">
                    <a:lumMod val="85000"/>
                    <a:lumOff val="15000"/>
                  </a:prstClr>
                </a:solidFill>
                <a:latin typeface="Arial"/>
                <a:cs typeface="Arial"/>
                <a:sym typeface="Arial"/>
              </a:rPr>
              <a:t>Maurya</a:t>
            </a:r>
            <a:endParaRPr lang="en-IN" sz="2667" b="1" kern="0" dirty="0" smtClean="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smtClean="0">
              <a:solidFill>
                <a:prstClr val="black">
                  <a:lumMod val="85000"/>
                  <a:lumOff val="15000"/>
                </a:prstClr>
              </a:solidFill>
              <a:latin typeface="Arial"/>
              <a:cs typeface="Arial"/>
              <a:sym typeface="Arial"/>
            </a:endParaRPr>
          </a:p>
          <a:p>
            <a:pPr algn="ctr" defTabSz="1219170">
              <a:buClr>
                <a:srgbClr val="000000"/>
              </a:buClr>
            </a:pPr>
            <a:r>
              <a:rPr lang="en-IN" sz="2667" b="1" kern="0" dirty="0" smtClean="0">
                <a:solidFill>
                  <a:prstClr val="black">
                    <a:lumMod val="85000"/>
                    <a:lumOff val="15000"/>
                  </a:prstClr>
                </a:solidFill>
                <a:latin typeface="Arial"/>
                <a:cs typeface="Arial"/>
                <a:sym typeface="Arial"/>
              </a:rPr>
              <a:t>Date: 05-02-2026</a:t>
            </a: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p:txBody>
      </p:sp>
    </p:spTree>
    <p:extLst>
      <p:ext uri="{BB962C8B-B14F-4D97-AF65-F5344CB8AC3E}">
        <p14:creationId xmlns:p14="http://schemas.microsoft.com/office/powerpoint/2010/main" val="30713453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7803B91D-5C02-48C0-DF6E-84767A9F9558}"/>
              </a:ext>
            </a:extLst>
          </p:cNvPr>
          <p:cNvSpPr txBox="1"/>
          <p:nvPr/>
        </p:nvSpPr>
        <p:spPr>
          <a:xfrm>
            <a:off x="323385" y="321283"/>
            <a:ext cx="11519210" cy="646331"/>
          </a:xfrm>
          <a:prstGeom prst="rect">
            <a:avLst/>
          </a:prstGeom>
          <a:noFill/>
        </p:spPr>
        <p:txBody>
          <a:bodyPr wrap="square" rtlCol="0">
            <a:spAutoFit/>
          </a:bodyPr>
          <a:lstStyle/>
          <a:p>
            <a:pPr algn="ctr" defTabSz="1219170">
              <a:buClr>
                <a:srgbClr val="000000"/>
              </a:buClr>
            </a:pPr>
            <a:r>
              <a:rPr lang="en-IN" sz="3600" b="1" kern="0" dirty="0" smtClean="0">
                <a:solidFill>
                  <a:prstClr val="black">
                    <a:lumMod val="85000"/>
                    <a:lumOff val="15000"/>
                  </a:prstClr>
                </a:solidFill>
                <a:latin typeface="Arial"/>
                <a:cs typeface="Arial"/>
                <a:sym typeface="Arial"/>
              </a:rPr>
              <a:t>Business Problem</a:t>
            </a:r>
            <a:endParaRPr lang="en-IN" sz="3600" b="1" kern="0" dirty="0">
              <a:solidFill>
                <a:prstClr val="black">
                  <a:lumMod val="85000"/>
                  <a:lumOff val="15000"/>
                </a:prstClr>
              </a:solidFill>
              <a:latin typeface="Arial"/>
              <a:cs typeface="Arial"/>
              <a:sym typeface="Arial"/>
            </a:endParaRPr>
          </a:p>
        </p:txBody>
      </p:sp>
      <p:sp>
        <p:nvSpPr>
          <p:cNvPr id="3" name="TextBox 2"/>
          <p:cNvSpPr txBox="1"/>
          <p:nvPr/>
        </p:nvSpPr>
        <p:spPr>
          <a:xfrm>
            <a:off x="814039" y="1226634"/>
            <a:ext cx="11028556" cy="2062103"/>
          </a:xfrm>
          <a:prstGeom prst="rect">
            <a:avLst/>
          </a:prstGeom>
          <a:noFill/>
        </p:spPr>
        <p:txBody>
          <a:bodyPr wrap="square" rtlCol="0">
            <a:spAutoFit/>
          </a:bodyPr>
          <a:lstStyle/>
          <a:p>
            <a:r>
              <a:rPr lang="en-US" sz="3200" dirty="0" err="1">
                <a:latin typeface="Calibri" panose="020F0502020204030204" pitchFamily="34" charset="0"/>
                <a:ea typeface="Calibri" panose="020F0502020204030204" pitchFamily="34" charset="0"/>
                <a:cs typeface="Calibri" panose="020F0502020204030204" pitchFamily="34" charset="0"/>
              </a:rPr>
              <a:t>AdventureWorks</a:t>
            </a:r>
            <a:r>
              <a:rPr lang="en-US" sz="3200" dirty="0">
                <a:latin typeface="Calibri" panose="020F0502020204030204" pitchFamily="34" charset="0"/>
                <a:ea typeface="Calibri" panose="020F0502020204030204" pitchFamily="34" charset="0"/>
                <a:cs typeface="Calibri" panose="020F0502020204030204" pitchFamily="34" charset="0"/>
              </a:rPr>
              <a:t> is a sample business dataset provided by Microsoft. It represents a bicycle manufacturing and sales company. The dataset contains information about customers, products, sales transactions, returns, territories, and dates.</a:t>
            </a:r>
          </a:p>
        </p:txBody>
      </p:sp>
      <p:sp>
        <p:nvSpPr>
          <p:cNvPr id="4" name="TextBox 3"/>
          <p:cNvSpPr txBox="1"/>
          <p:nvPr/>
        </p:nvSpPr>
        <p:spPr>
          <a:xfrm>
            <a:off x="825190" y="3523785"/>
            <a:ext cx="10482146" cy="2677656"/>
          </a:xfrm>
          <a:prstGeom prst="rect">
            <a:avLst/>
          </a:prstGeom>
          <a:noFill/>
        </p:spPr>
        <p:txBody>
          <a:bodyPr wrap="square" rtlCol="0">
            <a:spAutoFit/>
          </a:bodyPr>
          <a:lstStyle/>
          <a:p>
            <a:r>
              <a:rPr lang="en-US" sz="2800" dirty="0"/>
              <a:t>The main objective of this dataset is to </a:t>
            </a:r>
            <a:r>
              <a:rPr lang="en-US" sz="2800" dirty="0" smtClean="0"/>
              <a:t>perform</a:t>
            </a:r>
          </a:p>
          <a:p>
            <a:pPr marL="457200" indent="-457200">
              <a:buFont typeface="Arial" panose="020B0604020202020204" pitchFamily="34" charset="0"/>
              <a:buChar char="•"/>
            </a:pPr>
            <a:r>
              <a:rPr lang="en-US" sz="2800" dirty="0"/>
              <a:t>Sales </a:t>
            </a:r>
            <a:r>
              <a:rPr lang="en-US" sz="2800" dirty="0" smtClean="0"/>
              <a:t>Analysis</a:t>
            </a:r>
          </a:p>
          <a:p>
            <a:pPr marL="457200" indent="-457200">
              <a:buFont typeface="Arial" panose="020B0604020202020204" pitchFamily="34" charset="0"/>
              <a:buChar char="•"/>
            </a:pPr>
            <a:r>
              <a:rPr lang="en-US" sz="2800" dirty="0"/>
              <a:t>Regional/Territory </a:t>
            </a:r>
            <a:r>
              <a:rPr lang="en-US" sz="2800" dirty="0" smtClean="0"/>
              <a:t>Analysis</a:t>
            </a:r>
          </a:p>
          <a:p>
            <a:pPr marL="457200" indent="-457200">
              <a:buFont typeface="Arial" panose="020B0604020202020204" pitchFamily="34" charset="0"/>
              <a:buChar char="•"/>
            </a:pPr>
            <a:r>
              <a:rPr lang="en-US" sz="2800" dirty="0" smtClean="0"/>
              <a:t>Category Analysis</a:t>
            </a:r>
          </a:p>
          <a:p>
            <a:pPr marL="457200" indent="-457200">
              <a:buFont typeface="Arial" panose="020B0604020202020204" pitchFamily="34" charset="0"/>
              <a:buChar char="•"/>
            </a:pPr>
            <a:r>
              <a:rPr lang="en-US" sz="2800" dirty="0"/>
              <a:t>Product Performance </a:t>
            </a:r>
            <a:r>
              <a:rPr lang="en-US" sz="2800" dirty="0" smtClean="0"/>
              <a:t>Analysis</a:t>
            </a:r>
          </a:p>
          <a:p>
            <a:pPr marL="457200" indent="-457200">
              <a:buFont typeface="Arial" panose="020B0604020202020204" pitchFamily="34" charset="0"/>
              <a:buChar char="•"/>
            </a:pPr>
            <a:r>
              <a:rPr lang="en-US" sz="2800" dirty="0"/>
              <a:t>Return Analysis</a:t>
            </a:r>
          </a:p>
        </p:txBody>
      </p:sp>
    </p:spTree>
    <p:extLst>
      <p:ext uri="{BB962C8B-B14F-4D97-AF65-F5344CB8AC3E}">
        <p14:creationId xmlns:p14="http://schemas.microsoft.com/office/powerpoint/2010/main" val="27084974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7803B91D-5C02-48C0-DF6E-84767A9F9558}"/>
              </a:ext>
            </a:extLst>
          </p:cNvPr>
          <p:cNvSpPr txBox="1"/>
          <p:nvPr/>
        </p:nvSpPr>
        <p:spPr>
          <a:xfrm>
            <a:off x="-156118" y="574057"/>
            <a:ext cx="11519210" cy="830997"/>
          </a:xfrm>
          <a:prstGeom prst="rect">
            <a:avLst/>
          </a:prstGeom>
          <a:noFill/>
        </p:spPr>
        <p:txBody>
          <a:bodyPr wrap="square" rtlCol="0">
            <a:spAutoFit/>
          </a:bodyPr>
          <a:lstStyle/>
          <a:p>
            <a:pPr algn="ctr" defTabSz="1219170">
              <a:buClr>
                <a:srgbClr val="000000"/>
              </a:buClr>
            </a:pPr>
            <a:r>
              <a:rPr lang="en-US" sz="4800" dirty="0"/>
              <a:t>Business</a:t>
            </a:r>
            <a:r>
              <a:rPr lang="en-US" sz="4800" b="1" dirty="0"/>
              <a:t> </a:t>
            </a:r>
            <a:r>
              <a:rPr lang="en-US" sz="4800" dirty="0"/>
              <a:t>Objective</a:t>
            </a:r>
            <a:endParaRPr lang="en-IN" sz="4400" kern="0" dirty="0">
              <a:solidFill>
                <a:prstClr val="black">
                  <a:lumMod val="85000"/>
                  <a:lumOff val="15000"/>
                </a:prstClr>
              </a:solidFill>
              <a:latin typeface="Arial"/>
              <a:cs typeface="Arial"/>
              <a:sym typeface="Arial"/>
            </a:endParaRPr>
          </a:p>
        </p:txBody>
      </p:sp>
      <p:sp>
        <p:nvSpPr>
          <p:cNvPr id="2" name="TextBox 1"/>
          <p:cNvSpPr txBox="1"/>
          <p:nvPr/>
        </p:nvSpPr>
        <p:spPr>
          <a:xfrm>
            <a:off x="895815" y="2386363"/>
            <a:ext cx="11296185" cy="2062103"/>
          </a:xfrm>
          <a:prstGeom prst="rect">
            <a:avLst/>
          </a:prstGeom>
          <a:noFill/>
        </p:spPr>
        <p:txBody>
          <a:bodyPr wrap="square" rtlCol="0">
            <a:spAutoFit/>
          </a:bodyPr>
          <a:lstStyle/>
          <a:p>
            <a:r>
              <a:rPr lang="en-US" sz="3200" dirty="0"/>
              <a:t>The objective of this project is to analyze sales, customers, products, returns, and profitability of Adventure Works company and provide business insights through interactive Power BI dashboards.</a:t>
            </a:r>
            <a:endParaRPr lang="en-US" sz="3200" dirty="0"/>
          </a:p>
        </p:txBody>
      </p:sp>
    </p:spTree>
    <p:extLst>
      <p:ext uri="{BB962C8B-B14F-4D97-AF65-F5344CB8AC3E}">
        <p14:creationId xmlns:p14="http://schemas.microsoft.com/office/powerpoint/2010/main" val="23052118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2082253" y="140873"/>
            <a:ext cx="6494000" cy="677255"/>
          </a:xfrm>
        </p:spPr>
        <p:txBody>
          <a:bodyPr>
            <a:noAutofit/>
          </a:bodyPr>
          <a:lstStyle/>
          <a:p>
            <a:pPr defTabSz="1219170"/>
            <a:r>
              <a:rPr lang="en-US" sz="3600" b="1" dirty="0"/>
              <a:t>Data Overview</a:t>
            </a:r>
            <a:endParaRPr lang="en-IN" b="1" dirty="0">
              <a:solidFill>
                <a:prstClr val="black">
                  <a:lumMod val="85000"/>
                  <a:lumOff val="15000"/>
                </a:prstClr>
              </a:solidFill>
              <a:latin typeface="Arial"/>
              <a:cs typeface="Arial"/>
              <a:sym typeface="Arial"/>
            </a:endParaRPr>
          </a:p>
        </p:txBody>
      </p:sp>
      <p:sp>
        <p:nvSpPr>
          <p:cNvPr id="3" name="TextBox 2"/>
          <p:cNvSpPr txBox="1"/>
          <p:nvPr/>
        </p:nvSpPr>
        <p:spPr>
          <a:xfrm>
            <a:off x="635620" y="880946"/>
            <a:ext cx="11340790" cy="523220"/>
          </a:xfrm>
          <a:prstGeom prst="rect">
            <a:avLst/>
          </a:prstGeom>
          <a:noFill/>
        </p:spPr>
        <p:txBody>
          <a:bodyPr wrap="square" rtlCol="0">
            <a:spAutoFit/>
          </a:bodyPr>
          <a:lstStyle/>
          <a:p>
            <a:r>
              <a:rPr lang="en-US" sz="2800" dirty="0" smtClean="0"/>
              <a:t>We have total 10 csv files to create Power Bi Dashboard. </a:t>
            </a:r>
            <a:endParaRPr lang="en-US" sz="2800" dirty="0"/>
          </a:p>
        </p:txBody>
      </p:sp>
      <p:graphicFrame>
        <p:nvGraphicFramePr>
          <p:cNvPr id="4" name="Table 3"/>
          <p:cNvGraphicFramePr>
            <a:graphicFrameLocks noGrp="1"/>
          </p:cNvGraphicFramePr>
          <p:nvPr>
            <p:extLst>
              <p:ext uri="{D42A27DB-BD31-4B8C-83A1-F6EECF244321}">
                <p14:modId xmlns:p14="http://schemas.microsoft.com/office/powerpoint/2010/main" val="4198146531"/>
              </p:ext>
            </p:extLst>
          </p:nvPr>
        </p:nvGraphicFramePr>
        <p:xfrm>
          <a:off x="635618" y="1571436"/>
          <a:ext cx="11340792" cy="4405613"/>
        </p:xfrm>
        <a:graphic>
          <a:graphicData uri="http://schemas.openxmlformats.org/drawingml/2006/table">
            <a:tbl>
              <a:tblPr firstRow="1" bandRow="1">
                <a:tableStyleId>{D7AC3CCA-C797-4891-BE02-D94E43425B78}</a:tableStyleId>
              </a:tblPr>
              <a:tblGrid>
                <a:gridCol w="3334216"/>
                <a:gridCol w="981305"/>
                <a:gridCol w="1628079"/>
                <a:gridCol w="5397192"/>
              </a:tblGrid>
              <a:tr h="399976">
                <a:tc>
                  <a:txBody>
                    <a:bodyPr/>
                    <a:lstStyle/>
                    <a:p>
                      <a:pPr algn="ctr"/>
                      <a:r>
                        <a:rPr lang="en-US" sz="2000" dirty="0" smtClean="0"/>
                        <a:t>Dataset</a:t>
                      </a:r>
                      <a:endParaRPr lang="en-US" sz="2000" b="1" dirty="0"/>
                    </a:p>
                  </a:txBody>
                  <a:tcPr/>
                </a:tc>
                <a:tc>
                  <a:txBody>
                    <a:bodyPr/>
                    <a:lstStyle/>
                    <a:p>
                      <a:pPr algn="ctr"/>
                      <a:r>
                        <a:rPr lang="en-US" sz="2000" dirty="0" smtClean="0"/>
                        <a:t>Rows</a:t>
                      </a:r>
                      <a:endParaRPr lang="en-US" sz="2000" b="1" dirty="0"/>
                    </a:p>
                  </a:txBody>
                  <a:tcPr/>
                </a:tc>
                <a:tc>
                  <a:txBody>
                    <a:bodyPr/>
                    <a:lstStyle/>
                    <a:p>
                      <a:pPr algn="ctr"/>
                      <a:r>
                        <a:rPr lang="en-US" sz="2000" dirty="0" smtClean="0"/>
                        <a:t>Columns</a:t>
                      </a:r>
                      <a:endParaRPr lang="en-US" sz="2000" b="1" dirty="0"/>
                    </a:p>
                  </a:txBody>
                  <a:tcPr/>
                </a:tc>
                <a:tc>
                  <a:txBody>
                    <a:bodyPr/>
                    <a:lstStyle/>
                    <a:p>
                      <a:pPr algn="ctr"/>
                      <a:r>
                        <a:rPr lang="en-US" sz="2000" dirty="0" smtClean="0"/>
                        <a:t>Dataset</a:t>
                      </a:r>
                      <a:r>
                        <a:rPr lang="en-US" sz="2000" baseline="0" dirty="0" smtClean="0"/>
                        <a:t> </a:t>
                      </a:r>
                      <a:r>
                        <a:rPr lang="en-US" sz="2000" dirty="0" smtClean="0"/>
                        <a:t>Description</a:t>
                      </a:r>
                      <a:endParaRPr lang="en-US" sz="2000" b="1" dirty="0"/>
                    </a:p>
                  </a:txBody>
                  <a:tcPr/>
                </a:tc>
              </a:tr>
              <a:tr h="399976">
                <a:tc>
                  <a:txBody>
                    <a:bodyPr/>
                    <a:lstStyle/>
                    <a:p>
                      <a:r>
                        <a:rPr lang="en-US" dirty="0" err="1" smtClean="0"/>
                        <a:t>AdventureWorks_Customers</a:t>
                      </a:r>
                      <a:endParaRPr lang="en-US" dirty="0"/>
                    </a:p>
                  </a:txBody>
                  <a:tcPr/>
                </a:tc>
                <a:tc>
                  <a:txBody>
                    <a:bodyPr/>
                    <a:lstStyle/>
                    <a:p>
                      <a:pPr algn="ctr"/>
                      <a:r>
                        <a:rPr lang="en-US" dirty="0" smtClean="0"/>
                        <a:t>18148</a:t>
                      </a:r>
                      <a:endParaRPr lang="en-US" b="0" dirty="0"/>
                    </a:p>
                  </a:txBody>
                  <a:tcPr/>
                </a:tc>
                <a:tc>
                  <a:txBody>
                    <a:bodyPr/>
                    <a:lstStyle/>
                    <a:p>
                      <a:pPr algn="ctr"/>
                      <a:r>
                        <a:rPr lang="en-US" dirty="0" smtClean="0"/>
                        <a:t>13</a:t>
                      </a:r>
                      <a:endParaRPr lang="en-US" b="0" dirty="0"/>
                    </a:p>
                  </a:txBody>
                  <a:tcPr/>
                </a:tc>
                <a:tc>
                  <a:txBody>
                    <a:bodyPr/>
                    <a:lstStyle/>
                    <a:p>
                      <a:r>
                        <a:rPr lang="en-US" dirty="0" smtClean="0"/>
                        <a:t>Stores customer information.</a:t>
                      </a:r>
                      <a:endParaRPr lang="en-US" dirty="0"/>
                    </a:p>
                  </a:txBody>
                  <a:tcPr/>
                </a:tc>
              </a:tr>
              <a:tr h="399976">
                <a:tc>
                  <a:txBody>
                    <a:bodyPr/>
                    <a:lstStyle/>
                    <a:p>
                      <a:r>
                        <a:rPr lang="en-US" dirty="0" err="1" smtClean="0"/>
                        <a:t>Product_Categories</a:t>
                      </a:r>
                      <a:endParaRPr lang="en-US" dirty="0"/>
                    </a:p>
                  </a:txBody>
                  <a:tcPr/>
                </a:tc>
                <a:tc>
                  <a:txBody>
                    <a:bodyPr/>
                    <a:lstStyle/>
                    <a:p>
                      <a:pPr algn="ctr"/>
                      <a:r>
                        <a:rPr lang="en-US" dirty="0" smtClean="0"/>
                        <a:t>4</a:t>
                      </a:r>
                      <a:endParaRPr lang="en-US" b="0" dirty="0"/>
                    </a:p>
                  </a:txBody>
                  <a:tcPr/>
                </a:tc>
                <a:tc>
                  <a:txBody>
                    <a:bodyPr/>
                    <a:lstStyle/>
                    <a:p>
                      <a:pPr algn="ctr"/>
                      <a:r>
                        <a:rPr lang="en-US" dirty="0" smtClean="0"/>
                        <a:t>2</a:t>
                      </a:r>
                      <a:endParaRPr lang="en-US" b="0" dirty="0"/>
                    </a:p>
                  </a:txBody>
                  <a:tcPr/>
                </a:tc>
                <a:tc>
                  <a:txBody>
                    <a:bodyPr/>
                    <a:lstStyle/>
                    <a:p>
                      <a:r>
                        <a:rPr lang="en-US" dirty="0" smtClean="0"/>
                        <a:t>Contains</a:t>
                      </a:r>
                      <a:r>
                        <a:rPr lang="en-US" baseline="0" dirty="0" smtClean="0"/>
                        <a:t> </a:t>
                      </a:r>
                      <a:r>
                        <a:rPr lang="en-US" dirty="0" smtClean="0"/>
                        <a:t>product categories</a:t>
                      </a:r>
                      <a:endParaRPr lang="en-US" dirty="0"/>
                    </a:p>
                  </a:txBody>
                  <a:tcPr/>
                </a:tc>
              </a:tr>
              <a:tr h="399976">
                <a:tc>
                  <a:txBody>
                    <a:bodyPr/>
                    <a:lstStyle/>
                    <a:p>
                      <a:r>
                        <a:rPr lang="en-US" dirty="0" err="1" smtClean="0"/>
                        <a:t>Product_Subcategories</a:t>
                      </a:r>
                      <a:endParaRPr lang="en-US" dirty="0"/>
                    </a:p>
                  </a:txBody>
                  <a:tcPr/>
                </a:tc>
                <a:tc>
                  <a:txBody>
                    <a:bodyPr/>
                    <a:lstStyle/>
                    <a:p>
                      <a:pPr algn="ctr"/>
                      <a:r>
                        <a:rPr lang="en-US" dirty="0" smtClean="0"/>
                        <a:t>38</a:t>
                      </a:r>
                      <a:endParaRPr lang="en-US" b="0" dirty="0"/>
                    </a:p>
                  </a:txBody>
                  <a:tcPr/>
                </a:tc>
                <a:tc>
                  <a:txBody>
                    <a:bodyPr/>
                    <a:lstStyle/>
                    <a:p>
                      <a:pPr algn="ctr"/>
                      <a:r>
                        <a:rPr lang="en-US" dirty="0" smtClean="0"/>
                        <a:t>3</a:t>
                      </a:r>
                      <a:endParaRPr lang="en-US" b="0" dirty="0"/>
                    </a:p>
                  </a:txBody>
                  <a:tcPr/>
                </a:tc>
                <a:tc>
                  <a:txBody>
                    <a:bodyPr/>
                    <a:lstStyle/>
                    <a:p>
                      <a:r>
                        <a:rPr lang="en-US" dirty="0" smtClean="0"/>
                        <a:t>Contains detailed product groups.</a:t>
                      </a:r>
                      <a:endParaRPr lang="en-US" dirty="0"/>
                    </a:p>
                  </a:txBody>
                  <a:tcPr/>
                </a:tc>
              </a:tr>
              <a:tr h="405853">
                <a:tc>
                  <a:txBody>
                    <a:bodyPr/>
                    <a:lstStyle/>
                    <a:p>
                      <a:r>
                        <a:rPr lang="en-US" dirty="0" err="1" smtClean="0"/>
                        <a:t>AdventureWorks_Products</a:t>
                      </a:r>
                      <a:endParaRPr lang="en-US" dirty="0"/>
                    </a:p>
                  </a:txBody>
                  <a:tcPr/>
                </a:tc>
                <a:tc>
                  <a:txBody>
                    <a:bodyPr/>
                    <a:lstStyle/>
                    <a:p>
                      <a:pPr algn="ctr"/>
                      <a:r>
                        <a:rPr lang="en-US" dirty="0" smtClean="0"/>
                        <a:t>293</a:t>
                      </a:r>
                      <a:endParaRPr lang="en-US" b="0" dirty="0"/>
                    </a:p>
                  </a:txBody>
                  <a:tcPr/>
                </a:tc>
                <a:tc>
                  <a:txBody>
                    <a:bodyPr/>
                    <a:lstStyle/>
                    <a:p>
                      <a:pPr algn="ctr"/>
                      <a:r>
                        <a:rPr lang="en-US" dirty="0" smtClean="0"/>
                        <a:t>11</a:t>
                      </a:r>
                      <a:endParaRPr lang="en-US" b="0" dirty="0"/>
                    </a:p>
                  </a:txBody>
                  <a:tcPr/>
                </a:tc>
                <a:tc>
                  <a:txBody>
                    <a:bodyPr/>
                    <a:lstStyle/>
                    <a:p>
                      <a:r>
                        <a:rPr lang="en-US" dirty="0" smtClean="0"/>
                        <a:t>Contains product information.</a:t>
                      </a:r>
                      <a:endParaRPr lang="en-US" dirty="0"/>
                    </a:p>
                  </a:txBody>
                  <a:tcPr/>
                </a:tc>
              </a:tr>
              <a:tr h="399976">
                <a:tc>
                  <a:txBody>
                    <a:bodyPr/>
                    <a:lstStyle/>
                    <a:p>
                      <a:r>
                        <a:rPr lang="en-US" dirty="0" err="1" smtClean="0"/>
                        <a:t>AdventureWorks_Calendar</a:t>
                      </a:r>
                      <a:endParaRPr lang="en-US" dirty="0"/>
                    </a:p>
                  </a:txBody>
                  <a:tcPr>
                    <a:lnB w="12700" cap="flat" cmpd="sng" algn="ctr">
                      <a:solidFill>
                        <a:schemeClr val="tx1"/>
                      </a:solidFill>
                      <a:prstDash val="solid"/>
                      <a:round/>
                      <a:headEnd type="none" w="med" len="med"/>
                      <a:tailEnd type="none" w="med" len="med"/>
                    </a:lnB>
                  </a:tcPr>
                </a:tc>
                <a:tc>
                  <a:txBody>
                    <a:bodyPr/>
                    <a:lstStyle/>
                    <a:p>
                      <a:pPr algn="ctr"/>
                      <a:r>
                        <a:rPr lang="en-US" dirty="0" smtClean="0"/>
                        <a:t>912</a:t>
                      </a:r>
                      <a:endParaRPr lang="en-US" b="0" dirty="0"/>
                    </a:p>
                  </a:txBody>
                  <a:tcPr/>
                </a:tc>
                <a:tc>
                  <a:txBody>
                    <a:bodyPr/>
                    <a:lstStyle/>
                    <a:p>
                      <a:pPr algn="ctr"/>
                      <a:r>
                        <a:rPr lang="en-US" dirty="0" smtClean="0"/>
                        <a:t>1</a:t>
                      </a:r>
                      <a:endParaRPr lang="en-US" b="0" dirty="0"/>
                    </a:p>
                  </a:txBody>
                  <a:tcPr/>
                </a:tc>
                <a:tc>
                  <a:txBody>
                    <a:bodyPr/>
                    <a:lstStyle/>
                    <a:p>
                      <a:r>
                        <a:rPr lang="en-US" dirty="0" smtClean="0"/>
                        <a:t>Contains date-related information.</a:t>
                      </a:r>
                      <a:endParaRPr lang="en-US" dirty="0"/>
                    </a:p>
                  </a:txBody>
                  <a:tcPr/>
                </a:tc>
              </a:tr>
              <a:tr h="399976">
                <a:tc>
                  <a:txBody>
                    <a:bodyPr/>
                    <a:lstStyle/>
                    <a:p>
                      <a:r>
                        <a:rPr lang="en-US" dirty="0" err="1" smtClean="0"/>
                        <a:t>AdventureWorks_Returns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1809</a:t>
                      </a:r>
                      <a:endParaRPr lang="en-US" b="0" dirty="0"/>
                    </a:p>
                  </a:txBody>
                  <a:tcPr>
                    <a:lnL w="12700" cap="flat" cmpd="sng" algn="ctr">
                      <a:solidFill>
                        <a:schemeClr val="tx1"/>
                      </a:solidFill>
                      <a:prstDash val="solid"/>
                      <a:round/>
                      <a:headEnd type="none" w="med" len="med"/>
                      <a:tailEnd type="none" w="med" len="med"/>
                    </a:lnL>
                  </a:tcPr>
                </a:tc>
                <a:tc>
                  <a:txBody>
                    <a:bodyPr/>
                    <a:lstStyle/>
                    <a:p>
                      <a:pPr algn="ctr"/>
                      <a:r>
                        <a:rPr lang="en-US" dirty="0" smtClean="0"/>
                        <a:t>4</a:t>
                      </a:r>
                      <a:endParaRPr lang="en-US" b="0" dirty="0"/>
                    </a:p>
                  </a:txBody>
                  <a:tcPr/>
                </a:tc>
                <a:tc>
                  <a:txBody>
                    <a:bodyPr/>
                    <a:lstStyle/>
                    <a:p>
                      <a:r>
                        <a:rPr lang="en-US" dirty="0" smtClean="0"/>
                        <a:t>Stores returned products.</a:t>
                      </a:r>
                      <a:endParaRPr lang="en-US" dirty="0"/>
                    </a:p>
                  </a:txBody>
                  <a:tcPr/>
                </a:tc>
              </a:tr>
              <a:tr h="399976">
                <a:tc>
                  <a:txBody>
                    <a:bodyPr/>
                    <a:lstStyle/>
                    <a:p>
                      <a:r>
                        <a:rPr lang="en-US" dirty="0" smtClean="0"/>
                        <a:t>AdventureWorks_Sales_2015</a:t>
                      </a:r>
                      <a:endParaRPr lang="en-US" dirty="0"/>
                    </a:p>
                  </a:txBody>
                  <a:tcPr>
                    <a:lnT w="12700" cap="flat" cmpd="sng" algn="ctr">
                      <a:solidFill>
                        <a:schemeClr val="tx1"/>
                      </a:solidFill>
                      <a:prstDash val="solid"/>
                      <a:round/>
                      <a:headEnd type="none" w="med" len="med"/>
                      <a:tailEnd type="none" w="med" len="med"/>
                    </a:lnT>
                  </a:tcPr>
                </a:tc>
                <a:tc>
                  <a:txBody>
                    <a:bodyPr/>
                    <a:lstStyle/>
                    <a:p>
                      <a:pPr algn="ctr"/>
                      <a:r>
                        <a:rPr lang="en-US" dirty="0" smtClean="0"/>
                        <a:t>2630</a:t>
                      </a:r>
                      <a:endParaRPr lang="en-US" b="0" dirty="0"/>
                    </a:p>
                  </a:txBody>
                  <a:tcPr/>
                </a:tc>
                <a:tc>
                  <a:txBody>
                    <a:bodyPr/>
                    <a:lstStyle/>
                    <a:p>
                      <a:pPr algn="ctr"/>
                      <a:r>
                        <a:rPr lang="en-US" dirty="0" smtClean="0"/>
                        <a:t>8</a:t>
                      </a:r>
                      <a:endParaRPr lang="en-US" b="0" dirty="0"/>
                    </a:p>
                  </a:txBody>
                  <a:tcPr/>
                </a:tc>
                <a:tc>
                  <a:txBody>
                    <a:bodyPr/>
                    <a:lstStyle/>
                    <a:p>
                      <a:r>
                        <a:rPr lang="en-US" dirty="0" smtClean="0"/>
                        <a:t>Contains sales transactions for 2015.</a:t>
                      </a:r>
                      <a:endParaRPr lang="en-US" dirty="0"/>
                    </a:p>
                  </a:txBody>
                  <a:tcPr/>
                </a:tc>
              </a:tr>
              <a:tr h="399976">
                <a:tc>
                  <a:txBody>
                    <a:bodyPr/>
                    <a:lstStyle/>
                    <a:p>
                      <a:r>
                        <a:rPr lang="en-US" dirty="0" smtClean="0"/>
                        <a:t>AdventureWorks_Sales_2016</a:t>
                      </a:r>
                      <a:endParaRPr lang="en-US" dirty="0"/>
                    </a:p>
                  </a:txBody>
                  <a:tcPr/>
                </a:tc>
                <a:tc>
                  <a:txBody>
                    <a:bodyPr/>
                    <a:lstStyle/>
                    <a:p>
                      <a:pPr algn="ctr"/>
                      <a:r>
                        <a:rPr lang="en-US" dirty="0" smtClean="0"/>
                        <a:t>23935</a:t>
                      </a:r>
                      <a:endParaRPr lang="en-US" b="0" dirty="0"/>
                    </a:p>
                  </a:txBody>
                  <a:tcPr/>
                </a:tc>
                <a:tc>
                  <a:txBody>
                    <a:bodyPr/>
                    <a:lstStyle/>
                    <a:p>
                      <a:pPr algn="ctr"/>
                      <a:r>
                        <a:rPr lang="en-US" dirty="0" smtClean="0"/>
                        <a:t>8</a:t>
                      </a:r>
                      <a:endParaRPr lang="en-US" b="0" dirty="0"/>
                    </a:p>
                  </a:txBody>
                  <a:tcPr/>
                </a:tc>
                <a:tc>
                  <a:txBody>
                    <a:bodyPr/>
                    <a:lstStyle/>
                    <a:p>
                      <a:r>
                        <a:rPr lang="en-US" dirty="0" smtClean="0"/>
                        <a:t>Contains sales transactions for 2016.</a:t>
                      </a:r>
                      <a:endParaRPr lang="en-US" dirty="0"/>
                    </a:p>
                  </a:txBody>
                  <a:tcPr/>
                </a:tc>
              </a:tr>
              <a:tr h="399976">
                <a:tc>
                  <a:txBody>
                    <a:bodyPr/>
                    <a:lstStyle/>
                    <a:p>
                      <a:r>
                        <a:rPr lang="en-US" dirty="0" smtClean="0"/>
                        <a:t>AdventureWorks_Sales_2017</a:t>
                      </a:r>
                      <a:endParaRPr lang="en-US" dirty="0"/>
                    </a:p>
                  </a:txBody>
                  <a:tcPr/>
                </a:tc>
                <a:tc>
                  <a:txBody>
                    <a:bodyPr/>
                    <a:lstStyle/>
                    <a:p>
                      <a:pPr algn="ctr"/>
                      <a:r>
                        <a:rPr lang="en-US" dirty="0" smtClean="0"/>
                        <a:t>29481</a:t>
                      </a:r>
                      <a:endParaRPr lang="en-US" b="0" dirty="0"/>
                    </a:p>
                  </a:txBody>
                  <a:tcPr/>
                </a:tc>
                <a:tc>
                  <a:txBody>
                    <a:bodyPr/>
                    <a:lstStyle/>
                    <a:p>
                      <a:pPr algn="ctr"/>
                      <a:r>
                        <a:rPr lang="en-US" dirty="0" smtClean="0"/>
                        <a:t>8</a:t>
                      </a:r>
                      <a:endParaRPr lang="en-US" b="0" dirty="0"/>
                    </a:p>
                  </a:txBody>
                  <a:tcPr/>
                </a:tc>
                <a:tc>
                  <a:txBody>
                    <a:bodyPr/>
                    <a:lstStyle/>
                    <a:p>
                      <a:r>
                        <a:rPr lang="en-US" dirty="0" smtClean="0"/>
                        <a:t>Contains sales transactions for 2017.</a:t>
                      </a:r>
                      <a:endParaRPr lang="en-US" dirty="0"/>
                    </a:p>
                  </a:txBody>
                  <a:tcPr/>
                </a:tc>
              </a:tr>
              <a:tr h="399976">
                <a:tc>
                  <a:txBody>
                    <a:bodyPr/>
                    <a:lstStyle/>
                    <a:p>
                      <a:r>
                        <a:rPr lang="en-US" dirty="0" err="1" smtClean="0"/>
                        <a:t>AdventureWorks_Territories</a:t>
                      </a:r>
                      <a:endParaRPr lang="en-US" dirty="0"/>
                    </a:p>
                  </a:txBody>
                  <a:tcPr/>
                </a:tc>
                <a:tc>
                  <a:txBody>
                    <a:bodyPr/>
                    <a:lstStyle/>
                    <a:p>
                      <a:pPr algn="ctr"/>
                      <a:r>
                        <a:rPr lang="en-US" dirty="0" smtClean="0"/>
                        <a:t>10</a:t>
                      </a:r>
                      <a:endParaRPr lang="en-US" b="0" dirty="0"/>
                    </a:p>
                  </a:txBody>
                  <a:tcPr/>
                </a:tc>
                <a:tc>
                  <a:txBody>
                    <a:bodyPr/>
                    <a:lstStyle/>
                    <a:p>
                      <a:pPr algn="ctr"/>
                      <a:r>
                        <a:rPr lang="en-US" dirty="0" smtClean="0"/>
                        <a:t>4</a:t>
                      </a:r>
                      <a:endParaRPr lang="en-US" b="0" dirty="0"/>
                    </a:p>
                  </a:txBody>
                  <a:tcPr/>
                </a:tc>
                <a:tc>
                  <a:txBody>
                    <a:bodyPr/>
                    <a:lstStyle/>
                    <a:p>
                      <a:r>
                        <a:rPr lang="en-US" dirty="0" smtClean="0"/>
                        <a:t>Stores regional sales information.</a:t>
                      </a:r>
                      <a:endParaRPr lang="en-US" dirty="0"/>
                    </a:p>
                  </a:txBody>
                  <a:tcPr/>
                </a:tc>
              </a:tr>
            </a:tbl>
          </a:graphicData>
        </a:graphic>
      </p:graphicFrame>
    </p:spTree>
    <p:extLst>
      <p:ext uri="{BB962C8B-B14F-4D97-AF65-F5344CB8AC3E}">
        <p14:creationId xmlns:p14="http://schemas.microsoft.com/office/powerpoint/2010/main" val="28079208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304692" y="0"/>
            <a:ext cx="9367025" cy="1056800"/>
          </a:xfrm>
        </p:spPr>
        <p:txBody>
          <a:bodyPr>
            <a:normAutofit/>
          </a:bodyPr>
          <a:lstStyle/>
          <a:p>
            <a:r>
              <a:rPr lang="en-US" sz="3600" dirty="0"/>
              <a:t>Data Import &amp; ETL Process</a:t>
            </a:r>
            <a:endParaRPr lang="en-US" sz="3600" b="1" dirty="0"/>
          </a:p>
        </p:txBody>
      </p:sp>
      <p:sp>
        <p:nvSpPr>
          <p:cNvPr id="3" name="TextBox 2"/>
          <p:cNvSpPr txBox="1"/>
          <p:nvPr/>
        </p:nvSpPr>
        <p:spPr>
          <a:xfrm>
            <a:off x="579863" y="2899721"/>
            <a:ext cx="11374244" cy="1569660"/>
          </a:xfrm>
          <a:prstGeom prst="rect">
            <a:avLst/>
          </a:prstGeom>
          <a:noFill/>
        </p:spPr>
        <p:txBody>
          <a:bodyPr wrap="square" rtlCol="0">
            <a:spAutoFit/>
          </a:bodyPr>
          <a:lstStyle/>
          <a:p>
            <a:r>
              <a:rPr lang="en-US" sz="2400" dirty="0"/>
              <a:t>I imported all </a:t>
            </a:r>
            <a:r>
              <a:rPr lang="en-US" sz="2400" dirty="0" err="1"/>
              <a:t>AdventureWorks</a:t>
            </a:r>
            <a:r>
              <a:rPr lang="en-US" sz="2400" dirty="0"/>
              <a:t> CSV files into Power </a:t>
            </a:r>
            <a:r>
              <a:rPr lang="en-US" sz="2400" dirty="0" smtClean="0"/>
              <a:t>BI</a:t>
            </a:r>
          </a:p>
          <a:p>
            <a:r>
              <a:rPr lang="en-US" sz="2400" dirty="0" smtClean="0"/>
              <a:t>transformed </a:t>
            </a:r>
            <a:r>
              <a:rPr lang="en-US" sz="2400" dirty="0"/>
              <a:t>and cleaned the data in Power Query, appended the yearly sales files into a single Sales table, and </a:t>
            </a:r>
            <a:r>
              <a:rPr lang="en-US" sz="2400" dirty="0" smtClean="0"/>
              <a:t>then </a:t>
            </a:r>
            <a:r>
              <a:rPr lang="en-US" sz="2400" dirty="0"/>
              <a:t>used Close &amp; Apply to load the data. After that, I created a Star Schema data model by connecting fact and dimension </a:t>
            </a:r>
            <a:r>
              <a:rPr lang="en-US" sz="2400" dirty="0" smtClean="0"/>
              <a:t>tables.</a:t>
            </a:r>
            <a:endParaRPr lang="en-US" sz="2400" dirty="0"/>
          </a:p>
        </p:txBody>
      </p:sp>
      <p:sp>
        <p:nvSpPr>
          <p:cNvPr id="4" name="TextBox 3"/>
          <p:cNvSpPr txBox="1"/>
          <p:nvPr/>
        </p:nvSpPr>
        <p:spPr>
          <a:xfrm>
            <a:off x="1092820" y="1293542"/>
            <a:ext cx="10627114" cy="523220"/>
          </a:xfrm>
          <a:prstGeom prst="rect">
            <a:avLst/>
          </a:prstGeom>
          <a:noFill/>
        </p:spPr>
        <p:txBody>
          <a:bodyPr wrap="square" rtlCol="0">
            <a:spAutoFit/>
          </a:bodyPr>
          <a:lstStyle/>
          <a:p>
            <a:r>
              <a:rPr lang="en-US" sz="2400" dirty="0"/>
              <a:t>I imported all </a:t>
            </a:r>
            <a:r>
              <a:rPr lang="en-US" sz="2800" dirty="0"/>
              <a:t>Adventure</a:t>
            </a:r>
            <a:r>
              <a:rPr lang="en-US" sz="2400" dirty="0"/>
              <a:t> Works tables into Power BI using Get Data </a:t>
            </a:r>
            <a:r>
              <a:rPr lang="en-US" sz="2400" dirty="0" smtClean="0"/>
              <a:t>option.</a:t>
            </a:r>
            <a:endParaRPr lang="en-US" sz="2400" dirty="0"/>
          </a:p>
        </p:txBody>
      </p:sp>
    </p:spTree>
    <p:extLst>
      <p:ext uri="{BB962C8B-B14F-4D97-AF65-F5344CB8AC3E}">
        <p14:creationId xmlns:p14="http://schemas.microsoft.com/office/powerpoint/2010/main" val="7017995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2327579" y="144966"/>
            <a:ext cx="6494000" cy="479502"/>
          </a:xfrm>
        </p:spPr>
        <p:txBody>
          <a:bodyPr>
            <a:noAutofit/>
          </a:bodyPr>
          <a:lstStyle/>
          <a:p>
            <a:r>
              <a:rPr lang="en-US" sz="3600" dirty="0" smtClean="0"/>
              <a:t>Data Model and Relationships</a:t>
            </a:r>
            <a:endParaRPr lang="en-US" sz="36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25551"/>
            <a:ext cx="12192000" cy="5397190"/>
          </a:xfrm>
          <a:prstGeom prst="rect">
            <a:avLst/>
          </a:prstGeom>
        </p:spPr>
      </p:pic>
    </p:spTree>
    <p:extLst>
      <p:ext uri="{BB962C8B-B14F-4D97-AF65-F5344CB8AC3E}">
        <p14:creationId xmlns:p14="http://schemas.microsoft.com/office/powerpoint/2010/main" val="29345163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2294125" y="0"/>
            <a:ext cx="6494000" cy="1056800"/>
          </a:xfrm>
        </p:spPr>
        <p:txBody>
          <a:bodyPr>
            <a:normAutofit/>
          </a:bodyPr>
          <a:lstStyle/>
          <a:p>
            <a:r>
              <a:rPr lang="en-US" sz="4400" dirty="0"/>
              <a:t>Dashboard</a:t>
            </a:r>
            <a:r>
              <a:rPr lang="en-US" sz="4000" dirty="0"/>
              <a:t> Overview</a:t>
            </a:r>
            <a:endParaRPr lang="en-US" sz="4000" dirty="0"/>
          </a:p>
        </p:txBody>
      </p:sp>
      <p:graphicFrame>
        <p:nvGraphicFramePr>
          <p:cNvPr id="5" name="Table 4"/>
          <p:cNvGraphicFramePr>
            <a:graphicFrameLocks noGrp="1"/>
          </p:cNvGraphicFramePr>
          <p:nvPr>
            <p:extLst>
              <p:ext uri="{D42A27DB-BD31-4B8C-83A1-F6EECF244321}">
                <p14:modId xmlns:p14="http://schemas.microsoft.com/office/powerpoint/2010/main" val="2956061641"/>
              </p:ext>
            </p:extLst>
          </p:nvPr>
        </p:nvGraphicFramePr>
        <p:xfrm>
          <a:off x="178420" y="1262895"/>
          <a:ext cx="5675970" cy="4602645"/>
        </p:xfrm>
        <a:graphic>
          <a:graphicData uri="http://schemas.openxmlformats.org/drawingml/2006/table">
            <a:tbl>
              <a:tblPr firstRow="1" bandRow="1">
                <a:tableStyleId>{0505E3EF-67EA-436B-97B2-0124C06EBD24}</a:tableStyleId>
              </a:tblPr>
              <a:tblGrid>
                <a:gridCol w="2837985"/>
                <a:gridCol w="2837985"/>
              </a:tblGrid>
              <a:tr h="900394">
                <a:tc>
                  <a:txBody>
                    <a:bodyPr/>
                    <a:lstStyle/>
                    <a:p>
                      <a:pPr algn="ctr"/>
                      <a:r>
                        <a:rPr lang="en-US" sz="3600" b="1" dirty="0" smtClean="0"/>
                        <a:t>KPI</a:t>
                      </a:r>
                      <a:endParaRPr lang="en-US" sz="3600" b="1" dirty="0"/>
                    </a:p>
                  </a:txBody>
                  <a:tcPr/>
                </a:tc>
                <a:tc>
                  <a:txBody>
                    <a:bodyPr/>
                    <a:lstStyle/>
                    <a:p>
                      <a:pPr algn="ctr"/>
                      <a:r>
                        <a:rPr lang="en-US" sz="3600" b="1" dirty="0" smtClean="0"/>
                        <a:t>Value</a:t>
                      </a:r>
                      <a:endParaRPr lang="en-US" sz="3600" b="1" dirty="0"/>
                    </a:p>
                  </a:txBody>
                  <a:tcPr/>
                </a:tc>
              </a:tr>
              <a:tr h="528893">
                <a:tc>
                  <a:txBody>
                    <a:bodyPr/>
                    <a:lstStyle/>
                    <a:p>
                      <a:pPr algn="ctr"/>
                      <a:r>
                        <a:rPr lang="en-US" b="1" dirty="0" smtClean="0"/>
                        <a:t>Revenue</a:t>
                      </a:r>
                      <a:endParaRPr lang="en-US" b="1" dirty="0"/>
                    </a:p>
                  </a:txBody>
                  <a:tcPr/>
                </a:tc>
                <a:tc>
                  <a:txBody>
                    <a:bodyPr/>
                    <a:lstStyle/>
                    <a:p>
                      <a:pPr algn="ctr"/>
                      <a:r>
                        <a:rPr lang="en-US" b="1" dirty="0" smtClean="0"/>
                        <a:t>24.91M</a:t>
                      </a:r>
                      <a:endParaRPr lang="en-US" b="1" dirty="0"/>
                    </a:p>
                  </a:txBody>
                  <a:tcPr/>
                </a:tc>
              </a:tr>
              <a:tr h="528893">
                <a:tc>
                  <a:txBody>
                    <a:bodyPr/>
                    <a:lstStyle/>
                    <a:p>
                      <a:pPr algn="ctr"/>
                      <a:r>
                        <a:rPr lang="en-US" b="1" dirty="0" smtClean="0"/>
                        <a:t>Profit</a:t>
                      </a:r>
                      <a:endParaRPr lang="en-US" b="1" dirty="0"/>
                    </a:p>
                  </a:txBody>
                  <a:tcPr/>
                </a:tc>
                <a:tc>
                  <a:txBody>
                    <a:bodyPr/>
                    <a:lstStyle/>
                    <a:p>
                      <a:pPr algn="ctr"/>
                      <a:r>
                        <a:rPr lang="en-US" b="1" dirty="0" smtClean="0"/>
                        <a:t>10.46M</a:t>
                      </a:r>
                      <a:endParaRPr lang="en-US" b="1" dirty="0"/>
                    </a:p>
                  </a:txBody>
                  <a:tcPr/>
                </a:tc>
              </a:tr>
              <a:tr h="528893">
                <a:tc>
                  <a:txBody>
                    <a:bodyPr/>
                    <a:lstStyle/>
                    <a:p>
                      <a:pPr algn="ctr"/>
                      <a:r>
                        <a:rPr lang="en-US" b="1" dirty="0" smtClean="0"/>
                        <a:t>Total Orders</a:t>
                      </a:r>
                      <a:endParaRPr lang="en-US" b="1" dirty="0"/>
                    </a:p>
                  </a:txBody>
                  <a:tcPr/>
                </a:tc>
                <a:tc>
                  <a:txBody>
                    <a:bodyPr/>
                    <a:lstStyle/>
                    <a:p>
                      <a:pPr algn="ctr"/>
                      <a:r>
                        <a:rPr lang="en-US" b="1" dirty="0" smtClean="0"/>
                        <a:t>56K</a:t>
                      </a:r>
                      <a:endParaRPr lang="en-US" b="1" dirty="0"/>
                    </a:p>
                  </a:txBody>
                  <a:tcPr/>
                </a:tc>
              </a:tr>
              <a:tr h="528893">
                <a:tc>
                  <a:txBody>
                    <a:bodyPr/>
                    <a:lstStyle/>
                    <a:p>
                      <a:pPr algn="ctr"/>
                      <a:r>
                        <a:rPr lang="en-US" b="1" dirty="0" smtClean="0"/>
                        <a:t>Total Sold </a:t>
                      </a:r>
                      <a:r>
                        <a:rPr lang="en-US" b="1" dirty="0" err="1" smtClean="0"/>
                        <a:t>Qty</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smtClean="0"/>
                        <a:t>84K</a:t>
                      </a:r>
                      <a:endParaRPr lang="en-US" b="1" dirty="0" smtClean="0"/>
                    </a:p>
                  </a:txBody>
                  <a:tcPr/>
                </a:tc>
              </a:tr>
              <a:tr h="528893">
                <a:tc>
                  <a:txBody>
                    <a:bodyPr/>
                    <a:lstStyle/>
                    <a:p>
                      <a:pPr algn="ctr"/>
                      <a:r>
                        <a:rPr lang="en-US" b="1" dirty="0" smtClean="0"/>
                        <a:t>Return </a:t>
                      </a:r>
                      <a:r>
                        <a:rPr lang="en-US" b="1" dirty="0" err="1" smtClean="0"/>
                        <a:t>Qty</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smtClean="0"/>
                        <a:t>1.83K</a:t>
                      </a:r>
                      <a:endParaRPr lang="en-US" b="1" dirty="0" smtClean="0"/>
                    </a:p>
                  </a:txBody>
                  <a:tcPr/>
                </a:tc>
              </a:tr>
              <a:tr h="528893">
                <a:tc>
                  <a:txBody>
                    <a:bodyPr/>
                    <a:lstStyle/>
                    <a:p>
                      <a:pPr algn="ctr"/>
                      <a:r>
                        <a:rPr lang="en-US" b="1" dirty="0" smtClean="0"/>
                        <a:t>Return Amount</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smtClean="0"/>
                        <a:t>765K</a:t>
                      </a:r>
                      <a:endParaRPr lang="en-US" b="1" dirty="0" smtClean="0"/>
                    </a:p>
                  </a:txBody>
                  <a:tcPr/>
                </a:tc>
              </a:tr>
              <a:tr h="528893">
                <a:tc>
                  <a:txBody>
                    <a:bodyPr/>
                    <a:lstStyle/>
                    <a:p>
                      <a:pPr algn="ctr"/>
                      <a:r>
                        <a:rPr lang="en-US" b="1" dirty="0" smtClean="0"/>
                        <a:t>Total Cost</a:t>
                      </a:r>
                      <a:endParaRPr lang="en-US" b="1"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smtClean="0"/>
                        <a:t>14.46M</a:t>
                      </a:r>
                      <a:endParaRPr lang="en-US" b="1" dirty="0" smtClean="0"/>
                    </a:p>
                  </a:txBody>
                  <a:tcPr/>
                </a:tc>
              </a:tr>
            </a:tbl>
          </a:graphicData>
        </a:graphic>
      </p:graphicFrame>
      <p:sp>
        <p:nvSpPr>
          <p:cNvPr id="6" name="TextBox 5"/>
          <p:cNvSpPr txBox="1"/>
          <p:nvPr/>
        </p:nvSpPr>
        <p:spPr>
          <a:xfrm>
            <a:off x="6467707" y="1262895"/>
            <a:ext cx="5542156" cy="4093428"/>
          </a:xfrm>
          <a:prstGeom prst="rect">
            <a:avLst/>
          </a:prstGeom>
          <a:noFill/>
        </p:spPr>
        <p:txBody>
          <a:bodyPr wrap="square" rtlCol="0">
            <a:spAutoFit/>
          </a:bodyPr>
          <a:lstStyle/>
          <a:p>
            <a:r>
              <a:rPr lang="en-US" sz="3200" b="1" dirty="0"/>
              <a:t>Business Insight</a:t>
            </a:r>
            <a:r>
              <a:rPr lang="en-US" sz="3200" b="1" dirty="0" smtClean="0"/>
              <a:t>:</a:t>
            </a:r>
          </a:p>
          <a:p>
            <a:pPr marL="285750" indent="-285750">
              <a:buFont typeface="Arial" panose="020B0604020202020204" pitchFamily="34" charset="0"/>
              <a:buChar char="•"/>
            </a:pPr>
            <a:r>
              <a:rPr lang="en-US" sz="2800" dirty="0"/>
              <a:t>Revenue generated is 24.91M</a:t>
            </a:r>
            <a:r>
              <a:rPr lang="en-US" sz="2800" dirty="0" smtClean="0"/>
              <a:t>.</a:t>
            </a:r>
          </a:p>
          <a:p>
            <a:pPr marL="285750" indent="-285750">
              <a:buFont typeface="Arial" panose="020B0604020202020204" pitchFamily="34" charset="0"/>
              <a:buChar char="•"/>
            </a:pPr>
            <a:r>
              <a:rPr lang="en-US" sz="2800" dirty="0"/>
              <a:t>Profit generated is 10.46M</a:t>
            </a:r>
            <a:endParaRPr lang="en-US" sz="2800" dirty="0" smtClean="0"/>
          </a:p>
          <a:p>
            <a:pPr marL="285750" indent="-285750">
              <a:buFont typeface="Arial" panose="020B0604020202020204" pitchFamily="34" charset="0"/>
              <a:buChar char="•"/>
            </a:pPr>
            <a:r>
              <a:rPr lang="en-US" sz="2800" dirty="0"/>
              <a:t>Profit margin is approximately 42</a:t>
            </a:r>
            <a:r>
              <a:rPr lang="en-US" sz="2800" dirty="0" smtClean="0"/>
              <a:t>%.</a:t>
            </a:r>
          </a:p>
          <a:p>
            <a:pPr marL="285750" indent="-285750">
              <a:buFont typeface="Arial" panose="020B0604020202020204" pitchFamily="34" charset="0"/>
              <a:buChar char="•"/>
            </a:pPr>
            <a:r>
              <a:rPr lang="en-US" sz="2800" dirty="0"/>
              <a:t>The company is maintaining healthy profitability and controlling costs effectively</a:t>
            </a:r>
            <a:r>
              <a:rPr lang="en-US" sz="2800" dirty="0" smtClean="0"/>
              <a:t>.</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42332088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2207941" y="0"/>
            <a:ext cx="7081988" cy="836341"/>
          </a:xfrm>
        </p:spPr>
        <p:txBody>
          <a:bodyPr>
            <a:normAutofit/>
          </a:bodyPr>
          <a:lstStyle/>
          <a:p>
            <a:r>
              <a:rPr lang="en-US" sz="3600" dirty="0"/>
              <a:t>Customer Analysis Insights</a:t>
            </a:r>
          </a:p>
        </p:txBody>
      </p:sp>
      <p:sp>
        <p:nvSpPr>
          <p:cNvPr id="3" name="TextBox 2"/>
          <p:cNvSpPr txBox="1"/>
          <p:nvPr/>
        </p:nvSpPr>
        <p:spPr>
          <a:xfrm>
            <a:off x="524107" y="836341"/>
            <a:ext cx="11307337" cy="5324535"/>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Customer Analysis Insights</a:t>
            </a:r>
          </a:p>
          <a:p>
            <a:r>
              <a:rPr lang="en-US" sz="2400" dirty="0">
                <a:latin typeface="Calibri" panose="020F0502020204030204" pitchFamily="34" charset="0"/>
                <a:ea typeface="Calibri" panose="020F0502020204030204" pitchFamily="34" charset="0"/>
                <a:cs typeface="Calibri" panose="020F0502020204030204" pitchFamily="34" charset="0"/>
              </a:rPr>
              <a:t>• Customers aged </a:t>
            </a:r>
            <a:r>
              <a:rPr lang="en-US" sz="2400" b="1" dirty="0">
                <a:latin typeface="Calibri" panose="020F0502020204030204" pitchFamily="34" charset="0"/>
                <a:ea typeface="Calibri" panose="020F0502020204030204" pitchFamily="34" charset="0"/>
                <a:cs typeface="Calibri" panose="020F0502020204030204" pitchFamily="34" charset="0"/>
              </a:rPr>
              <a:t>40–60 years</a:t>
            </a:r>
            <a:r>
              <a:rPr lang="en-US" sz="2400" dirty="0">
                <a:latin typeface="Calibri" panose="020F0502020204030204" pitchFamily="34" charset="0"/>
                <a:ea typeface="Calibri" panose="020F0502020204030204" pitchFamily="34" charset="0"/>
                <a:cs typeface="Calibri" panose="020F0502020204030204" pitchFamily="34" charset="0"/>
              </a:rPr>
              <a:t> contribute the highest number of orders, making them the most valuable customer segment.</a:t>
            </a:r>
          </a:p>
          <a:p>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Jordan Turner</a:t>
            </a:r>
            <a:r>
              <a:rPr lang="en-US" sz="2400" dirty="0">
                <a:latin typeface="Calibri" panose="020F0502020204030204" pitchFamily="34" charset="0"/>
                <a:ea typeface="Calibri" panose="020F0502020204030204" pitchFamily="34" charset="0"/>
                <a:cs typeface="Calibri" panose="020F0502020204030204" pitchFamily="34" charset="0"/>
              </a:rPr>
              <a:t> is the top revenue-generating customer with approximately </a:t>
            </a:r>
            <a:r>
              <a:rPr lang="en-US" sz="2400" b="1" dirty="0">
                <a:latin typeface="Calibri" panose="020F0502020204030204" pitchFamily="34" charset="0"/>
                <a:ea typeface="Calibri" panose="020F0502020204030204" pitchFamily="34" charset="0"/>
                <a:cs typeface="Calibri" panose="020F0502020204030204" pitchFamily="34" charset="0"/>
              </a:rPr>
              <a:t>15.57K revenue</a:t>
            </a:r>
            <a:r>
              <a:rPr lang="en-US" sz="2400" dirty="0">
                <a:latin typeface="Calibri" panose="020F0502020204030204" pitchFamily="34" charset="0"/>
                <a:ea typeface="Calibri" panose="020F0502020204030204" pitchFamily="34" charset="0"/>
                <a:cs typeface="Calibri" panose="020F0502020204030204" pitchFamily="34" charset="0"/>
              </a:rPr>
              <a:t>, highlighting the importance of customer retention strategies.</a:t>
            </a:r>
          </a:p>
          <a:p>
            <a:r>
              <a:rPr lang="en-US" sz="2400" dirty="0">
                <a:latin typeface="Calibri" panose="020F0502020204030204" pitchFamily="34" charset="0"/>
                <a:ea typeface="Calibri" panose="020F0502020204030204" pitchFamily="34" charset="0"/>
                <a:cs typeface="Calibri" panose="020F0502020204030204" pitchFamily="34" charset="0"/>
              </a:rPr>
              <a:t>• Customers from the </a:t>
            </a:r>
            <a:r>
              <a:rPr lang="en-US" sz="2400" b="1" dirty="0">
                <a:latin typeface="Calibri" panose="020F0502020204030204" pitchFamily="34" charset="0"/>
                <a:ea typeface="Calibri" panose="020F0502020204030204" pitchFamily="34" charset="0"/>
                <a:cs typeface="Calibri" panose="020F0502020204030204" pitchFamily="34" charset="0"/>
              </a:rPr>
              <a:t>Management occupation</a:t>
            </a:r>
            <a:r>
              <a:rPr lang="en-US" sz="2400" dirty="0">
                <a:latin typeface="Calibri" panose="020F0502020204030204" pitchFamily="34" charset="0"/>
                <a:ea typeface="Calibri" panose="020F0502020204030204" pitchFamily="34" charset="0"/>
                <a:cs typeface="Calibri" panose="020F0502020204030204" pitchFamily="34" charset="0"/>
              </a:rPr>
              <a:t> generate the highest revenue, indicating stronger purchasing power among professionals.</a:t>
            </a:r>
          </a:p>
          <a:p>
            <a:r>
              <a:rPr lang="en-US" sz="2400" dirty="0">
                <a:latin typeface="Calibri" panose="020F0502020204030204" pitchFamily="34" charset="0"/>
                <a:ea typeface="Calibri" panose="020F0502020204030204" pitchFamily="34" charset="0"/>
                <a:cs typeface="Calibri" panose="020F0502020204030204" pitchFamily="34" charset="0"/>
              </a:rPr>
              <a:t>• Order distribution is almost equal between </a:t>
            </a:r>
            <a:r>
              <a:rPr lang="en-US" sz="2400" b="1" dirty="0">
                <a:latin typeface="Calibri" panose="020F0502020204030204" pitchFamily="34" charset="0"/>
                <a:ea typeface="Calibri" panose="020F0502020204030204" pitchFamily="34" charset="0"/>
                <a:cs typeface="Calibri" panose="020F0502020204030204" pitchFamily="34" charset="0"/>
              </a:rPr>
              <a:t>Male (50.43%)</a:t>
            </a:r>
            <a:r>
              <a:rPr lang="en-US" sz="2400" dirty="0">
                <a:latin typeface="Calibri" panose="020F0502020204030204" pitchFamily="34" charset="0"/>
                <a:ea typeface="Calibri" panose="020F0502020204030204" pitchFamily="34" charset="0"/>
                <a:cs typeface="Calibri" panose="020F0502020204030204" pitchFamily="34" charset="0"/>
              </a:rPr>
              <a:t> and </a:t>
            </a:r>
            <a:r>
              <a:rPr lang="en-US" sz="2400" b="1" dirty="0">
                <a:latin typeface="Calibri" panose="020F0502020204030204" pitchFamily="34" charset="0"/>
                <a:ea typeface="Calibri" panose="020F0502020204030204" pitchFamily="34" charset="0"/>
                <a:cs typeface="Calibri" panose="020F0502020204030204" pitchFamily="34" charset="0"/>
              </a:rPr>
              <a:t>Female (49.57%)</a:t>
            </a:r>
            <a:r>
              <a:rPr lang="en-US" sz="2400" dirty="0">
                <a:latin typeface="Calibri" panose="020F0502020204030204" pitchFamily="34" charset="0"/>
                <a:ea typeface="Calibri" panose="020F0502020204030204" pitchFamily="34" charset="0"/>
                <a:cs typeface="Calibri" panose="020F0502020204030204" pitchFamily="34" charset="0"/>
              </a:rPr>
              <a:t> customers, showing a balanced customer base.</a:t>
            </a:r>
          </a:p>
          <a:p>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Average-income customers contribute 67.35% of total orders</a:t>
            </a:r>
            <a:r>
              <a:rPr lang="en-US" sz="2400" dirty="0">
                <a:latin typeface="Calibri" panose="020F0502020204030204" pitchFamily="34" charset="0"/>
                <a:ea typeface="Calibri" panose="020F0502020204030204" pitchFamily="34" charset="0"/>
                <a:cs typeface="Calibri" panose="020F0502020204030204" pitchFamily="34" charset="0"/>
              </a:rPr>
              <a:t>, making them the primary target market for the business.</a:t>
            </a:r>
          </a:p>
          <a:p>
            <a:r>
              <a:rPr lang="en-US" sz="2400" dirty="0">
                <a:latin typeface="Calibri" panose="020F0502020204030204" pitchFamily="34" charset="0"/>
                <a:ea typeface="Calibri" panose="020F0502020204030204" pitchFamily="34" charset="0"/>
                <a:cs typeface="Calibri" panose="020F0502020204030204" pitchFamily="34" charset="0"/>
              </a:rPr>
              <a:t>• The dashboard helps identify key customer segments for targeted marketing campaigns and improved customer engagement</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505431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2461394" y="0"/>
            <a:ext cx="6494000" cy="925551"/>
          </a:xfrm>
        </p:spPr>
        <p:txBody>
          <a:bodyPr>
            <a:normAutofit/>
          </a:bodyPr>
          <a:lstStyle/>
          <a:p>
            <a:r>
              <a:rPr lang="en-US" sz="4400" dirty="0"/>
              <a:t>Product Analysis Insights</a:t>
            </a:r>
          </a:p>
        </p:txBody>
      </p:sp>
      <p:sp>
        <p:nvSpPr>
          <p:cNvPr id="3" name="TextBox 2"/>
          <p:cNvSpPr txBox="1"/>
          <p:nvPr/>
        </p:nvSpPr>
        <p:spPr>
          <a:xfrm>
            <a:off x="256478" y="1025912"/>
            <a:ext cx="11764537" cy="5293757"/>
          </a:xfrm>
          <a:prstGeom prst="rect">
            <a:avLst/>
          </a:prstGeom>
          <a:noFill/>
        </p:spPr>
        <p:txBody>
          <a:bodyPr wrap="square" rtlCol="0">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Product Analysis Insights</a:t>
            </a:r>
          </a:p>
          <a:p>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Water Bottle – 30 oz.</a:t>
            </a:r>
            <a:r>
              <a:rPr lang="en-US" sz="2400" dirty="0">
                <a:latin typeface="Calibri" panose="020F0502020204030204" pitchFamily="34" charset="0"/>
                <a:ea typeface="Calibri" panose="020F0502020204030204" pitchFamily="34" charset="0"/>
                <a:cs typeface="Calibri" panose="020F0502020204030204" pitchFamily="34" charset="0"/>
              </a:rPr>
              <a:t> is the most ordered product, indicating strong customer demand and popularity.</a:t>
            </a:r>
          </a:p>
          <a:p>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Mountain-200 Black, 46</a:t>
            </a:r>
            <a:r>
              <a:rPr lang="en-US" sz="2400" dirty="0">
                <a:latin typeface="Calibri" panose="020F0502020204030204" pitchFamily="34" charset="0"/>
                <a:ea typeface="Calibri" panose="020F0502020204030204" pitchFamily="34" charset="0"/>
                <a:cs typeface="Calibri" panose="020F0502020204030204" pitchFamily="34" charset="0"/>
              </a:rPr>
              <a:t> is the most profitable product and contributes significantly to overall business profit.</a:t>
            </a:r>
          </a:p>
          <a:p>
            <a:r>
              <a:rPr lang="en-US" sz="2400" dirty="0">
                <a:latin typeface="Calibri" panose="020F0502020204030204" pitchFamily="34" charset="0"/>
                <a:ea typeface="Calibri" panose="020F0502020204030204" pitchFamily="34" charset="0"/>
                <a:cs typeface="Calibri" panose="020F0502020204030204" pitchFamily="34" charset="0"/>
              </a:rPr>
              <a:t>• Weekly profit trends show fluctuations throughout the year, with peak profits reaching approximately </a:t>
            </a:r>
            <a:r>
              <a:rPr lang="en-US" sz="2400" b="1" dirty="0">
                <a:latin typeface="Calibri" panose="020F0502020204030204" pitchFamily="34" charset="0"/>
                <a:ea typeface="Calibri" panose="020F0502020204030204" pitchFamily="34" charset="0"/>
                <a:cs typeface="Calibri" panose="020F0502020204030204" pitchFamily="34" charset="0"/>
              </a:rPr>
              <a:t>313K</a:t>
            </a:r>
            <a:r>
              <a:rPr lang="en-US" sz="2400" dirty="0">
                <a:latin typeface="Calibri" panose="020F0502020204030204" pitchFamily="34" charset="0"/>
                <a:ea typeface="Calibri" panose="020F0502020204030204" pitchFamily="34" charset="0"/>
                <a:cs typeface="Calibri" panose="020F0502020204030204" pitchFamily="34" charset="0"/>
              </a:rPr>
              <a:t> during high-performing weeks.</a:t>
            </a:r>
          </a:p>
          <a:p>
            <a:r>
              <a:rPr lang="en-US" sz="2400" dirty="0">
                <a:latin typeface="Calibri" panose="020F0502020204030204" pitchFamily="34" charset="0"/>
                <a:ea typeface="Calibri" panose="020F0502020204030204" pitchFamily="34" charset="0"/>
                <a:cs typeface="Calibri" panose="020F0502020204030204" pitchFamily="34" charset="0"/>
              </a:rPr>
              <a:t>• Product returns vary across weeks, suggesting seasonal patterns and customer purchasing behavior.</a:t>
            </a:r>
          </a:p>
          <a:p>
            <a:r>
              <a:rPr lang="en-US" sz="2400" dirty="0">
                <a:latin typeface="Calibri" panose="020F0502020204030204" pitchFamily="34" charset="0"/>
                <a:ea typeface="Calibri" panose="020F0502020204030204" pitchFamily="34" charset="0"/>
                <a:cs typeface="Calibri" panose="020F0502020204030204" pitchFamily="34" charset="0"/>
              </a:rPr>
              <a:t>• Products such as </a:t>
            </a:r>
            <a:r>
              <a:rPr lang="en-US" sz="2400" b="1" dirty="0">
                <a:latin typeface="Calibri" panose="020F0502020204030204" pitchFamily="34" charset="0"/>
                <a:ea typeface="Calibri" panose="020F0502020204030204" pitchFamily="34" charset="0"/>
                <a:cs typeface="Calibri" panose="020F0502020204030204" pitchFamily="34" charset="0"/>
              </a:rPr>
              <a:t>Road-650 Red, 52</a:t>
            </a:r>
            <a:r>
              <a:rPr lang="en-US" sz="2400" dirty="0">
                <a:latin typeface="Calibri" panose="020F0502020204030204" pitchFamily="34" charset="0"/>
                <a:ea typeface="Calibri" panose="020F0502020204030204" pitchFamily="34" charset="0"/>
                <a:cs typeface="Calibri" panose="020F0502020204030204" pitchFamily="34" charset="0"/>
              </a:rPr>
              <a:t> and </a:t>
            </a:r>
            <a:r>
              <a:rPr lang="en-US" sz="2400" b="1" dirty="0">
                <a:latin typeface="Calibri" panose="020F0502020204030204" pitchFamily="34" charset="0"/>
                <a:ea typeface="Calibri" panose="020F0502020204030204" pitchFamily="34" charset="0"/>
                <a:cs typeface="Calibri" panose="020F0502020204030204" pitchFamily="34" charset="0"/>
              </a:rPr>
              <a:t>Mountain-100 Silver, 44</a:t>
            </a:r>
            <a:r>
              <a:rPr lang="en-US" sz="2400" dirty="0">
                <a:latin typeface="Calibri" panose="020F0502020204030204" pitchFamily="34" charset="0"/>
                <a:ea typeface="Calibri" panose="020F0502020204030204" pitchFamily="34" charset="0"/>
                <a:cs typeface="Calibri" panose="020F0502020204030204" pitchFamily="34" charset="0"/>
              </a:rPr>
              <a:t> have higher return rates and may require quality review.</a:t>
            </a:r>
          </a:p>
          <a:p>
            <a:r>
              <a:rPr lang="en-US" sz="2400" dirty="0">
                <a:latin typeface="Calibri" panose="020F0502020204030204" pitchFamily="34" charset="0"/>
                <a:ea typeface="Calibri" panose="020F0502020204030204" pitchFamily="34" charset="0"/>
                <a:cs typeface="Calibri" panose="020F0502020204030204" pitchFamily="34" charset="0"/>
              </a:rPr>
              <a:t>• The analysis helps management optimize inventory levels, improve product quality, and focus on high-profit products.</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710878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993043" y="0"/>
            <a:ext cx="6494000" cy="802888"/>
          </a:xfrm>
        </p:spPr>
        <p:txBody>
          <a:bodyPr>
            <a:normAutofit/>
          </a:bodyPr>
          <a:lstStyle/>
          <a:p>
            <a:r>
              <a:rPr lang="en-US" sz="3600" dirty="0"/>
              <a:t>Category Analysis Insights</a:t>
            </a:r>
            <a:endParaRPr lang="en-US" sz="3600" dirty="0"/>
          </a:p>
        </p:txBody>
      </p:sp>
      <p:sp>
        <p:nvSpPr>
          <p:cNvPr id="3" name="TextBox 2"/>
          <p:cNvSpPr txBox="1"/>
          <p:nvPr/>
        </p:nvSpPr>
        <p:spPr>
          <a:xfrm>
            <a:off x="390293" y="947854"/>
            <a:ext cx="11407697" cy="5293757"/>
          </a:xfrm>
          <a:prstGeom prst="rect">
            <a:avLst/>
          </a:prstGeom>
          <a:noFill/>
        </p:spPr>
        <p:txBody>
          <a:bodyPr wrap="square" rtlCol="0">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Category Analysis Insights</a:t>
            </a:r>
          </a:p>
          <a:p>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Bikes generate 23.64M revenue</a:t>
            </a:r>
            <a:r>
              <a:rPr lang="en-US" sz="2400" dirty="0">
                <a:latin typeface="Calibri" panose="020F0502020204030204" pitchFamily="34" charset="0"/>
                <a:ea typeface="Calibri" panose="020F0502020204030204" pitchFamily="34" charset="0"/>
                <a:cs typeface="Calibri" panose="020F0502020204030204" pitchFamily="34" charset="0"/>
              </a:rPr>
              <a:t>, making them the highest revenue-contributing category and the primary business growth driver.</a:t>
            </a:r>
          </a:p>
          <a:p>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Accessories account for the highest order quantity (58K units)</a:t>
            </a:r>
            <a:r>
              <a:rPr lang="en-US" sz="2400" dirty="0">
                <a:latin typeface="Calibri" panose="020F0502020204030204" pitchFamily="34" charset="0"/>
                <a:ea typeface="Calibri" panose="020F0502020204030204" pitchFamily="34" charset="0"/>
                <a:cs typeface="Calibri" panose="020F0502020204030204" pitchFamily="34" charset="0"/>
              </a:rPr>
              <a:t>, indicating strong demand despite lower revenue contribution.</a:t>
            </a:r>
          </a:p>
          <a:p>
            <a:r>
              <a:rPr lang="en-US" sz="2400" dirty="0">
                <a:latin typeface="Calibri" panose="020F0502020204030204" pitchFamily="34" charset="0"/>
                <a:ea typeface="Calibri" panose="020F0502020204030204" pitchFamily="34" charset="0"/>
                <a:cs typeface="Calibri" panose="020F0502020204030204" pitchFamily="34" charset="0"/>
              </a:rPr>
              <a:t>• The </a:t>
            </a:r>
            <a:r>
              <a:rPr lang="en-US" sz="2400" b="1" dirty="0">
                <a:latin typeface="Calibri" panose="020F0502020204030204" pitchFamily="34" charset="0"/>
                <a:ea typeface="Calibri" panose="020F0502020204030204" pitchFamily="34" charset="0"/>
                <a:cs typeface="Calibri" panose="020F0502020204030204" pitchFamily="34" charset="0"/>
              </a:rPr>
              <a:t>Clothing category contributes the least revenue</a:t>
            </a:r>
            <a:r>
              <a:rPr lang="en-US" sz="2400" dirty="0">
                <a:latin typeface="Calibri" panose="020F0502020204030204" pitchFamily="34" charset="0"/>
                <a:ea typeface="Calibri" panose="020F0502020204030204" pitchFamily="34" charset="0"/>
                <a:cs typeface="Calibri" panose="020F0502020204030204" pitchFamily="34" charset="0"/>
              </a:rPr>
              <a:t>, presenting opportunities for future growth and promotional activities.</a:t>
            </a:r>
          </a:p>
          <a:p>
            <a:r>
              <a:rPr lang="en-US" sz="2400" dirty="0">
                <a:latin typeface="Calibri" panose="020F0502020204030204" pitchFamily="34" charset="0"/>
                <a:ea typeface="Calibri" panose="020F0502020204030204" pitchFamily="34" charset="0"/>
                <a:cs typeface="Calibri" panose="020F0502020204030204" pitchFamily="34" charset="0"/>
              </a:rPr>
              <a:t>• Weekday orders (</a:t>
            </a:r>
            <a:r>
              <a:rPr lang="en-US" sz="2400" b="1" dirty="0">
                <a:latin typeface="Calibri" panose="020F0502020204030204" pitchFamily="34" charset="0"/>
                <a:ea typeface="Calibri" panose="020F0502020204030204" pitchFamily="34" charset="0"/>
                <a:cs typeface="Calibri" panose="020F0502020204030204" pitchFamily="34" charset="0"/>
              </a:rPr>
              <a:t>40K</a:t>
            </a:r>
            <a:r>
              <a:rPr lang="en-US" sz="2400" dirty="0">
                <a:latin typeface="Calibri" panose="020F0502020204030204" pitchFamily="34" charset="0"/>
                <a:ea typeface="Calibri" panose="020F0502020204030204" pitchFamily="34" charset="0"/>
                <a:cs typeface="Calibri" panose="020F0502020204030204" pitchFamily="34" charset="0"/>
              </a:rPr>
              <a:t>) are significantly higher than weekend orders (</a:t>
            </a:r>
            <a:r>
              <a:rPr lang="en-US" sz="2400" b="1" dirty="0">
                <a:latin typeface="Calibri" panose="020F0502020204030204" pitchFamily="34" charset="0"/>
                <a:ea typeface="Calibri" panose="020F0502020204030204" pitchFamily="34" charset="0"/>
                <a:cs typeface="Calibri" panose="020F0502020204030204" pitchFamily="34" charset="0"/>
              </a:rPr>
              <a:t>16K</a:t>
            </a:r>
            <a:r>
              <a:rPr lang="en-US" sz="2400" dirty="0">
                <a:latin typeface="Calibri" panose="020F0502020204030204" pitchFamily="34" charset="0"/>
                <a:ea typeface="Calibri" panose="020F0502020204030204" pitchFamily="34" charset="0"/>
                <a:cs typeface="Calibri" panose="020F0502020204030204" pitchFamily="34" charset="0"/>
              </a:rPr>
              <a:t>), indicating stronger customer purchasing activity during weekdays.</a:t>
            </a:r>
          </a:p>
          <a:p>
            <a:r>
              <a:rPr lang="en-US" sz="2400" dirty="0">
                <a:latin typeface="Calibri" panose="020F0502020204030204" pitchFamily="34" charset="0"/>
                <a:ea typeface="Calibri" panose="020F0502020204030204" pitchFamily="34" charset="0"/>
                <a:cs typeface="Calibri" panose="020F0502020204030204" pitchFamily="34" charset="0"/>
              </a:rPr>
              <a:t>• Bikes have the highest average selling price (</a:t>
            </a:r>
            <a:r>
              <a:rPr lang="en-US" sz="2400" b="1" dirty="0">
                <a:latin typeface="Calibri" panose="020F0502020204030204" pitchFamily="34" charset="0"/>
                <a:ea typeface="Calibri" panose="020F0502020204030204" pitchFamily="34" charset="0"/>
                <a:cs typeface="Calibri" panose="020F0502020204030204" pitchFamily="34" charset="0"/>
              </a:rPr>
              <a:t>1.54K</a:t>
            </a:r>
            <a:r>
              <a:rPr lang="en-US" sz="2400" dirty="0">
                <a:latin typeface="Calibri" panose="020F0502020204030204" pitchFamily="34" charset="0"/>
                <a:ea typeface="Calibri" panose="020F0502020204030204" pitchFamily="34" charset="0"/>
                <a:cs typeface="Calibri" panose="020F0502020204030204" pitchFamily="34" charset="0"/>
              </a:rPr>
              <a:t>) and contribute the largest share of company profit.</a:t>
            </a:r>
          </a:p>
          <a:p>
            <a:r>
              <a:rPr lang="en-US" sz="2400" dirty="0">
                <a:latin typeface="Calibri" panose="020F0502020204030204" pitchFamily="34" charset="0"/>
                <a:ea typeface="Calibri" panose="020F0502020204030204" pitchFamily="34" charset="0"/>
                <a:cs typeface="Calibri" panose="020F0502020204030204" pitchFamily="34" charset="0"/>
              </a:rPr>
              <a:t>• Category analysis helps stakeholders understand sales performance, customer preferences, and opportunities to improve category-level profitability.</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68997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2372184" y="47574"/>
            <a:ext cx="6494000" cy="1056800"/>
          </a:xfrm>
        </p:spPr>
        <p:txBody>
          <a:bodyPr>
            <a:normAutofit/>
          </a:bodyPr>
          <a:lstStyle/>
          <a:p>
            <a:r>
              <a:rPr lang="en-US" sz="4800" b="1" dirty="0" smtClean="0"/>
              <a:t>Conclusion</a:t>
            </a:r>
            <a:endParaRPr lang="en-US" sz="4800" b="1" dirty="0"/>
          </a:p>
        </p:txBody>
      </p:sp>
      <p:sp>
        <p:nvSpPr>
          <p:cNvPr id="3" name="TextBox 2"/>
          <p:cNvSpPr txBox="1"/>
          <p:nvPr/>
        </p:nvSpPr>
        <p:spPr>
          <a:xfrm>
            <a:off x="312235" y="1628481"/>
            <a:ext cx="11879766" cy="3046988"/>
          </a:xfrm>
          <a:prstGeom prst="rect">
            <a:avLst/>
          </a:prstGeom>
          <a:noFill/>
        </p:spPr>
        <p:txBody>
          <a:bodyPr wrap="square" rtlCol="0">
            <a:spAutoFit/>
          </a:bodyPr>
          <a:lstStyle/>
          <a:p>
            <a:r>
              <a:rPr lang="en-US" sz="3200" dirty="0">
                <a:latin typeface="Calibri" panose="020F0502020204030204" pitchFamily="34" charset="0"/>
                <a:ea typeface="Calibri" panose="020F0502020204030204" pitchFamily="34" charset="0"/>
                <a:cs typeface="Calibri" panose="020F0502020204030204" pitchFamily="34" charset="0"/>
              </a:rPr>
              <a:t>The Adventure Works Sales Dashboard successfully transforms raw business data into meaningful insights, helping stakeholders improve sales performance, increase profitability, optimize inventory management, and better understand customer behavior. This project demonstrates my skills in Power BI, Power Query, DAX, Data Modeling, and Business Intelligence reporting.</a:t>
            </a:r>
          </a:p>
        </p:txBody>
      </p:sp>
    </p:spTree>
    <p:extLst>
      <p:ext uri="{BB962C8B-B14F-4D97-AF65-F5344CB8AC3E}">
        <p14:creationId xmlns:p14="http://schemas.microsoft.com/office/powerpoint/2010/main" val="1686022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46"/>
          <p:cNvSpPr txBox="1">
            <a:spLocks noGrp="1"/>
          </p:cNvSpPr>
          <p:nvPr>
            <p:ph type="subTitle" idx="1"/>
          </p:nvPr>
        </p:nvSpPr>
        <p:spPr>
          <a:xfrm>
            <a:off x="2849000" y="2488624"/>
            <a:ext cx="6494000" cy="1056800"/>
          </a:xfrm>
          <a:prstGeom prst="rect">
            <a:avLst/>
          </a:prstGeom>
          <a:noFill/>
          <a:ln>
            <a:noFill/>
          </a:ln>
        </p:spPr>
        <p:txBody>
          <a:bodyPr spcFirstLastPara="1" wrap="square" lIns="121900" tIns="121900" rIns="121900" bIns="121900" anchor="ctr" anchorCtr="0">
            <a:normAutofit fontScale="92500" lnSpcReduction="10000"/>
          </a:bodyPr>
          <a:lstStyle/>
          <a:p>
            <a:pPr marL="609585" indent="-457189"/>
            <a:r>
              <a:rPr lang="en-US" sz="6400" b="1" dirty="0"/>
              <a:t>THANK YOU!</a:t>
            </a:r>
          </a:p>
        </p:txBody>
      </p:sp>
    </p:spTree>
    <p:extLst>
      <p:ext uri="{BB962C8B-B14F-4D97-AF65-F5344CB8AC3E}">
        <p14:creationId xmlns:p14="http://schemas.microsoft.com/office/powerpoint/2010/main" val="3656772840"/>
      </p:ext>
    </p:extLst>
  </p:cSld>
  <p:clrMapOvr>
    <a:masterClrMapping/>
  </p:clrMapOvr>
  <p:timing>
    <p:tnLst>
      <p:par>
        <p:cTn id="1" dur="indefinite" restart="never" nodeType="tmRoot"/>
      </p:par>
    </p:tnLst>
  </p:timing>
</p:sld>
</file>

<file path=ppt/theme/theme1.xml><?xml version="1.0" encoding="utf-8"?>
<a:theme xmlns:a="http://schemas.openxmlformats.org/drawingml/2006/main" name="Trop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15304</TotalTime>
  <Words>763</Words>
  <Application>Microsoft Office PowerPoint</Application>
  <PresentationFormat>Widescreen</PresentationFormat>
  <Paragraphs>119</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Open Sans</vt:lpstr>
      <vt:lpstr>PT Sans Narrow</vt:lpstr>
      <vt:lpstr>Raleway</vt:lpstr>
      <vt:lpstr>Tropic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oorja gund</dc:creator>
  <cp:lastModifiedBy>Microsoft account</cp:lastModifiedBy>
  <cp:revision>116</cp:revision>
  <dcterms:created xsi:type="dcterms:W3CDTF">2025-04-04T02:52:34Z</dcterms:created>
  <dcterms:modified xsi:type="dcterms:W3CDTF">2026-06-14T12:44:09Z</dcterms:modified>
</cp:coreProperties>
</file>